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14D3B-D267-439A-9632-FB6AEB77B2EE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58644-2E61-4DAA-98E8-0EF8408E3D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34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replaces the dark version with a bright Databricks-branded title slide and visible metadata.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problem before introducing the tool.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Polly is supervisor/orchestrator; implementation and review happen in specialist agents.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split between local orchestration and Databricks execution.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explains how to use the routing model YAML from the demo kit.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Structured comparison table for agent roles and outputs.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live presenter sequence.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notebook is the proof point and fallback artifact.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Conflict resolution makes Polly's coordination value tangible.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Dedicated Q&amp;A slide with discussion prompts and auditorium visual.</a:t>
            </a:r>
          </a:p>
          <a:p>
            <a:endParaRPr/>
          </a:p>
          <a:p>
            <a:r>
              <a:t>[Sources]</a:t>
            </a:r>
          </a:p>
          <a:p>
            <a:r>
              <a:t>Databricks Omnigent docs: https://docs.databricks.com/aws/en/omnigent/</a:t>
            </a:r>
          </a:p>
          <a:p>
            <a:r>
              <a:t>Databricks Free Edition docs: https://docs.databricks.com/aws/en/getting-started/free-edition</a:t>
            </a:r>
          </a:p>
          <a:p>
            <a:r>
              <a:t>Databricks Free Edition limitations: https://docs.databricks.com/aws/en/getting-started/free-edition-limitations</a:t>
            </a:r>
          </a:p>
          <a:p>
            <a:r>
              <a:t>Omnigent Polly docs: https://omnigent.ai/docs/use/builtin-agents/polly</a:t>
            </a:r>
          </a:p>
          <a:p>
            <a:r>
              <a:t>Omnigent custom agents docs: https://omnigent.ai/docs/use/custom-agents</a:t>
            </a:r>
          </a:p>
          <a:p>
            <a:r>
              <a:t>Omnigent collaboration docs: https://omnigent.ai/docs/collaborate</a:t>
            </a:r>
          </a:p>
          <a:p>
            <a:r>
              <a:t>Databricks CLI authentication docs: https://docs.databricks.com/aws/en/dev-tools/cli/authentication</a:t>
            </a:r>
          </a:p>
          <a:p>
            <a:r>
              <a:t>Q&amp;A auditorium image generated with OpenAI image generation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93A9-3E7B-9999-8D90-521553623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C89DA-FDCA-DC27-C40D-15D8E6273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2816A-8588-233C-E56F-E22C9251C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2348B-548B-CB28-72C1-E4B14078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74124-C3DB-8E58-22AC-EFA8BEE0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0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2C32-F44B-C26B-BBCC-3CDB8CBE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C868C-003B-20D3-8340-0017D5C35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3F36C-0F0B-178A-AF42-948A9104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A891-37CD-EEEB-F776-DD439052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78A54-8865-F224-9D44-41D63FE2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6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E683-BEC7-8264-A3FD-8272EEC83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06870-2DBB-57C8-E84E-3C9D1DDC2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215D4-12DE-764D-B524-66E7507D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742A4-F4DF-2888-B42B-01E6DEE54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AABB0-4CC4-A7C6-0B41-FA650B03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2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011A-6631-8EC9-70B1-6010C6D80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3B43C-AAAA-8F1D-DC05-3E6CB45CC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51254-4908-D4DF-60D2-09917B7A3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4FA82-F9FF-A796-AABC-691AA065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63104-662D-DF06-1861-B04666B6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C3AFD-E359-8CA3-CA9F-A3F87E5E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71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2299-A66C-6692-A73D-7AC364FB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39A88-07EA-0116-1731-F6027894F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AAD26-F902-47CF-ADD0-721C8D905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7B4AD5-E290-C940-9B42-8359FE25D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02AEB-697D-E844-3900-3D4B145F4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2DD48-0807-CDA5-1A11-AF33F2B6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D3E2BC-1C82-43A9-B5FD-C1FFC22A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D48DC7-DBFD-6655-2D7C-F7ED5979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9E26-9592-50F8-7B2A-7463E6065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408E07-2907-B122-CAAA-3D3DD4438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69354-D9D9-ACEC-BE75-0CB96FDE1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5B48E-EC78-167E-17A1-150072A3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5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CA6B5-862D-A3B3-D1D9-42EE8ABB9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343543-033D-DAFD-F9ED-35D15E1A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E0364-FDA3-6EBF-C4FD-BCA757E8B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96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2DCB-00FE-118C-AAB0-7F423CE5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E07B-CD2E-66B3-EF42-9493E6BD5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F2866-41CA-5A3F-0B22-A0A556C77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6B60C-E611-B041-7577-EE018701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35CE9-B9E1-2F7C-A4D6-B6AB75D6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B7FDF-C618-64B8-80D7-6651F4610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4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0BD7-7135-0A2D-54DE-7D329C8F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84317F-F2D2-ECD8-4BFB-D78CDA0AF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EA1D5-F244-99E5-B4A2-8B6424F5C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49A85-EB08-C8E1-13A7-77B8C315F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E1375-AFD7-46C6-C328-5CA13E20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55507-8366-CA4B-7C57-73DD52A9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9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4C96-14EC-8712-59B5-B613DB0FF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576F0-94B2-6B4C-5362-2C1777619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CDFF8-14D7-E78A-9038-CCB427DA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1010F-315A-C88A-B69F-6455F738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F0170-676C-357E-258C-F870D5A69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37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6055A7-6B10-CC21-853D-518FD0ACA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763F3-A46E-7472-1CE0-28A5D1B8F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7DEF6-E3D2-2E1B-6292-5AB8EA36A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95B9B-5B8E-8FEF-04C7-21D890EED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46FEC-6E17-01AC-A661-1B4DC879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98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460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8DDC80-E2E8-534C-5492-4D1BA837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FCA82-A4F7-896A-45DB-6BEFBE6E0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13BBF-6F54-E33E-8A6D-4C99A6618D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70C1C-609E-4CDC-ABA8-BB86C6EF956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2D02-38E0-03ED-D47F-0093B7FA2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3D73B-DA8C-1CA3-6D75-7118F8E56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DF702-6528-4A50-8907-1721AEED5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9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C4B97-6481-935F-586A-78270224C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3EF4AB-CEA8-A6E1-BAD6-F4A2EEE96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8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721FF3F-6E1B-4AC7-9E04-10E48F14EA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8A2B2-1077-472D-A2CF-50ABF75B12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593D2-0AC2-4421-BCC4-998AE03A8963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434328-A4A7-4366-9807-5A88EE241AA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7810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1B3139"/>
                </a:solidFill>
              </a:defRPr>
            </a:pPr>
            <a:r>
              <a:rPr sz="4050" b="1">
                <a:solidFill>
                  <a:srgbClr val="1B3139"/>
                </a:solidFill>
              </a:rPr>
              <a:t>Polly as the Show-Runner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DF5C2-F0DF-4B56-A6E5-666DEC1345F8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781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43E48"/>
                </a:solidFill>
              </a:defRPr>
            </a:pPr>
            <a:r>
              <a:rPr sz="2325" b="1">
                <a:solidFill>
                  <a:srgbClr val="243E48"/>
                </a:solidFill>
              </a:rPr>
              <a:t>for a Multi-Agent Databricks Coding Team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8B358B-F52E-449D-85DC-D26BAC4D929E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1747B"/>
                </a:solidFill>
              </a:defRPr>
            </a:pPr>
            <a:r>
              <a:rPr sz="1500" b="0" dirty="0">
                <a:solidFill>
                  <a:srgbClr val="61747B"/>
                </a:solidFill>
              </a:rPr>
              <a:t>Live implementation with </a:t>
            </a:r>
            <a:r>
              <a:rPr sz="1500" b="0" dirty="0" err="1">
                <a:solidFill>
                  <a:srgbClr val="61747B"/>
                </a:solidFill>
              </a:rPr>
              <a:t>Omnigent</a:t>
            </a:r>
            <a:r>
              <a:rPr sz="1500" b="0" dirty="0">
                <a:solidFill>
                  <a:srgbClr val="61747B"/>
                </a:solidFill>
              </a:rPr>
              <a:t> on local Docker and Databricks Free Edition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4C7B08-29FC-4A8C-A2FC-6BEC398098D6}"/>
              </a:ext>
            </a:extLst>
          </p:cNvPr>
          <p:cNvSpPr>
            <a:spLocks noGrp="1"/>
          </p:cNvSpPr>
          <p:nvPr/>
        </p:nvSpPr>
        <p:spPr>
          <a:xfrm>
            <a:off x="704850" y="4238625"/>
            <a:ext cx="53340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FA56F-D3C6-4E45-A8E8-1D462FC5F726}"/>
              </a:ext>
            </a:extLst>
          </p:cNvPr>
          <p:cNvSpPr>
            <a:spLocks noGrp="1"/>
          </p:cNvSpPr>
          <p:nvPr/>
        </p:nvSpPr>
        <p:spPr>
          <a:xfrm>
            <a:off x="1028700" y="45148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B3139"/>
                </a:solidFill>
              </a:defRPr>
            </a:pPr>
            <a:r>
              <a:rPr sz="1500" b="1">
                <a:solidFill>
                  <a:srgbClr val="1B3139"/>
                </a:solidFill>
              </a:rPr>
              <a:t>Presented By: Nitesh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E6A616-157C-42B7-88C6-27E6AEC5F640}"/>
              </a:ext>
            </a:extLst>
          </p:cNvPr>
          <p:cNvSpPr>
            <a:spLocks noGrp="1"/>
          </p:cNvSpPr>
          <p:nvPr/>
        </p:nvSpPr>
        <p:spPr>
          <a:xfrm>
            <a:off x="1028700" y="48577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 dirty="0">
                <a:solidFill>
                  <a:srgbClr val="61747B"/>
                </a:solidFill>
              </a:rPr>
              <a:t>Speaker Title: </a:t>
            </a:r>
            <a:r>
              <a:rPr lang="en-US" sz="1275" dirty="0">
                <a:solidFill>
                  <a:srgbClr val="61747B"/>
                </a:solidFill>
              </a:rPr>
              <a:t>Data/ML Platform Solutions Architect</a:t>
            </a:r>
            <a:endParaRPr sz="1275" b="0" dirty="0">
              <a:solidFill>
                <a:srgbClr val="61747B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FE8122-9371-44EA-8F9E-EA0DB242EEB5}"/>
              </a:ext>
            </a:extLst>
          </p:cNvPr>
          <p:cNvSpPr>
            <a:spLocks noGrp="1"/>
          </p:cNvSpPr>
          <p:nvPr/>
        </p:nvSpPr>
        <p:spPr>
          <a:xfrm>
            <a:off x="1028700" y="5143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Event: Databricks Technical Meetup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5C4019B-05EF-4514-94F0-C5E08922B580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2762250" cy="2476500"/>
          </a:xfrm>
          <a:prstGeom prst="roundRect">
            <a:avLst>
              <a:gd name="adj" fmla="val 3077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F77CAC-69E7-41C1-9DC6-09E81821F5CE}"/>
              </a:ext>
            </a:extLst>
          </p:cNvPr>
          <p:cNvSpPr>
            <a:spLocks noGrp="1"/>
          </p:cNvSpPr>
          <p:nvPr/>
        </p:nvSpPr>
        <p:spPr>
          <a:xfrm>
            <a:off x="8572500" y="21336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3621"/>
                </a:solidFill>
              </a:defRPr>
            </a:pPr>
            <a:r>
              <a:rPr sz="1650" b="1">
                <a:solidFill>
                  <a:srgbClr val="FF3621"/>
                </a:solidFill>
              </a:rPr>
              <a:t>Topic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0760FE-1379-4909-B26B-1D5E3A66994F}"/>
              </a:ext>
            </a:extLst>
          </p:cNvPr>
          <p:cNvSpPr>
            <a:spLocks noGrp="1"/>
          </p:cNvSpPr>
          <p:nvPr/>
        </p:nvSpPr>
        <p:spPr>
          <a:xfrm>
            <a:off x="8458200" y="2714624"/>
            <a:ext cx="2047875" cy="149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1B3139"/>
                </a:solidFill>
              </a:defRPr>
            </a:pPr>
            <a:r>
              <a:rPr sz="1500" b="0" dirty="0">
                <a:solidFill>
                  <a:srgbClr val="1B3139"/>
                </a:solidFill>
              </a:rPr>
              <a:t>Polly coordinates specialist agents to build, review, validate, and present a Databricks data product.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E3D6B7-4B5A-464A-8F25-C29CFFCBA52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 dirty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9CFEB6-0352-4DD7-864E-67BEB8A4F21B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01</a:t>
            </a:r>
          </a:p>
        </p:txBody>
      </p:sp>
      <p:pic>
        <p:nvPicPr>
          <p:cNvPr id="27" name="Picture 26" descr="Databricks Logo and symbol, meaning, history, PNG, brand">
            <a:extLst>
              <a:ext uri="{FF2B5EF4-FFF2-40B4-BE49-F238E27FC236}">
                <a16:creationId xmlns:a16="http://schemas.microsoft.com/office/drawing/2014/main" id="{711752CE-0102-6026-E9E6-898CC2092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31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2859E1E-3AC9-444D-9CE4-308243FE0F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756145-E851-4773-92E8-4959D7F011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FBB857-A8E5-435B-9906-E09124DB9C4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AI coding needs an operating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E2AEB7-C7BB-4ADF-98B0-21244C22ECF0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Multiple coding agents are useful, but unmanaged handoffs create risk.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D6698-00A5-4A81-BEB1-F7185B4D021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6E7D7E-048F-46FA-A228-4B7F5F96E786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31432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16C348-F2E8-4E9F-9FA9-255262E570CD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D2FF"/>
                </a:solidFill>
              </a:defRPr>
            </a:pPr>
            <a:r>
              <a:rPr sz="1875" b="1">
                <a:solidFill>
                  <a:srgbClr val="00D2FF"/>
                </a:solidFill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9F6B3-4FE3-45CE-B6FE-B5AA2DC71DDC}"/>
              </a:ext>
            </a:extLst>
          </p:cNvPr>
          <p:cNvSpPr>
            <a:spLocks noGrp="1"/>
          </p:cNvSpPr>
          <p:nvPr/>
        </p:nvSpPr>
        <p:spPr>
          <a:xfrm>
            <a:off x="1028700" y="3067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B3139"/>
                </a:solidFill>
              </a:defRPr>
            </a:pPr>
            <a:r>
              <a:rPr sz="1875" b="1">
                <a:solidFill>
                  <a:srgbClr val="1B3139"/>
                </a:solidFill>
              </a:rPr>
              <a:t>Context scatter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19068C-2B6D-48EA-8276-32ED8BB3C789}"/>
              </a:ext>
            </a:extLst>
          </p:cNvPr>
          <p:cNvSpPr>
            <a:spLocks noGrp="1"/>
          </p:cNvSpPr>
          <p:nvPr/>
        </p:nvSpPr>
        <p:spPr>
          <a:xfrm>
            <a:off x="1028700" y="356235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 dirty="0">
                <a:solidFill>
                  <a:srgbClr val="243E48"/>
                </a:solidFill>
              </a:rPr>
              <a:t>Prompts, decisions, and generated code end up across disconnected sessions.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02FCC5-F80C-429C-9D48-61F14EE30FA5}"/>
              </a:ext>
            </a:extLst>
          </p:cNvPr>
          <p:cNvSpPr>
            <a:spLocks noGrp="1"/>
          </p:cNvSpPr>
          <p:nvPr/>
        </p:nvSpPr>
        <p:spPr>
          <a:xfrm>
            <a:off x="4381500" y="2333625"/>
            <a:ext cx="3143250" cy="2000250"/>
          </a:xfrm>
          <a:prstGeom prst="roundRect">
            <a:avLst>
              <a:gd name="adj" fmla="val 3810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DA4841-2D62-46DD-98B7-4D57149C63AA}"/>
              </a:ext>
            </a:extLst>
          </p:cNvPr>
          <p:cNvSpPr>
            <a:spLocks noGrp="1"/>
          </p:cNvSpPr>
          <p:nvPr/>
        </p:nvSpPr>
        <p:spPr>
          <a:xfrm>
            <a:off x="4648200" y="25717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FF3621"/>
                </a:solidFill>
              </a:defRPr>
            </a:pPr>
            <a:r>
              <a:rPr sz="1875" b="1">
                <a:solidFill>
                  <a:srgbClr val="FF3621"/>
                </a:solidFill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50F73E-AF9C-46E2-BFB8-956A4D86F497}"/>
              </a:ext>
            </a:extLst>
          </p:cNvPr>
          <p:cNvSpPr>
            <a:spLocks noGrp="1"/>
          </p:cNvSpPr>
          <p:nvPr/>
        </p:nvSpPr>
        <p:spPr>
          <a:xfrm>
            <a:off x="4648200" y="3067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B3139"/>
                </a:solidFill>
              </a:defRPr>
            </a:pPr>
            <a:r>
              <a:rPr sz="1875" b="1">
                <a:solidFill>
                  <a:srgbClr val="1B3139"/>
                </a:solidFill>
              </a:rPr>
              <a:t>Review latency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0FE776-947F-4843-AE78-ADF687A7F0AD}"/>
              </a:ext>
            </a:extLst>
          </p:cNvPr>
          <p:cNvSpPr>
            <a:spLocks noGrp="1"/>
          </p:cNvSpPr>
          <p:nvPr/>
        </p:nvSpPr>
        <p:spPr>
          <a:xfrm>
            <a:off x="4648200" y="356235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>
                <a:solidFill>
                  <a:srgbClr val="243E48"/>
                </a:solidFill>
              </a:rPr>
              <a:t>Implementation moves quickly while architecture and governance lag behind.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0512E3D-9CCC-492D-AEAC-7C38169EE5F2}"/>
              </a:ext>
            </a:extLst>
          </p:cNvPr>
          <p:cNvSpPr>
            <a:spLocks noGrp="1"/>
          </p:cNvSpPr>
          <p:nvPr/>
        </p:nvSpPr>
        <p:spPr>
          <a:xfrm>
            <a:off x="8001000" y="2333625"/>
            <a:ext cx="314325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488F10-8659-40D7-9415-14A1B019CEC3}"/>
              </a:ext>
            </a:extLst>
          </p:cNvPr>
          <p:cNvSpPr>
            <a:spLocks noGrp="1"/>
          </p:cNvSpPr>
          <p:nvPr/>
        </p:nvSpPr>
        <p:spPr>
          <a:xfrm>
            <a:off x="8267700" y="25717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0D2FF"/>
                </a:solidFill>
              </a:defRPr>
            </a:pPr>
            <a:r>
              <a:rPr sz="1875" b="1">
                <a:solidFill>
                  <a:srgbClr val="00D2FF"/>
                </a:solidFill>
              </a:rPr>
              <a:t>03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29F0E2-C2F3-4949-B28D-BF89652DC18B}"/>
              </a:ext>
            </a:extLst>
          </p:cNvPr>
          <p:cNvSpPr>
            <a:spLocks noGrp="1"/>
          </p:cNvSpPr>
          <p:nvPr/>
        </p:nvSpPr>
        <p:spPr>
          <a:xfrm>
            <a:off x="8267700" y="30670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B3139"/>
                </a:solidFill>
              </a:defRPr>
            </a:pPr>
            <a:r>
              <a:rPr sz="1875" b="1">
                <a:solidFill>
                  <a:srgbClr val="1B3139"/>
                </a:solidFill>
              </a:rPr>
              <a:t>Approval ambiguity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F0EB5D-CB04-4365-9970-788570C4B12A}"/>
              </a:ext>
            </a:extLst>
          </p:cNvPr>
          <p:cNvSpPr>
            <a:spLocks noGrp="1"/>
          </p:cNvSpPr>
          <p:nvPr/>
        </p:nvSpPr>
        <p:spPr>
          <a:xfrm>
            <a:off x="8267700" y="3562350"/>
            <a:ext cx="2476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>
                <a:solidFill>
                  <a:srgbClr val="243E48"/>
                </a:solidFill>
              </a:rPr>
              <a:t>Teams need a clear owner for what gets merged, run, and productionized.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5C522F-4CD4-46F9-A289-BF7408B2CDB1}"/>
              </a:ext>
            </a:extLst>
          </p:cNvPr>
          <p:cNvSpPr>
            <a:spLocks noGrp="1"/>
          </p:cNvSpPr>
          <p:nvPr/>
        </p:nvSpPr>
        <p:spPr>
          <a:xfrm>
            <a:off x="761999" y="4610100"/>
            <a:ext cx="10334625" cy="1123950"/>
          </a:xfrm>
          <a:prstGeom prst="roundRect">
            <a:avLst>
              <a:gd name="adj" fmla="val 7882"/>
            </a:avLst>
          </a:prstGeom>
          <a:solidFill>
            <a:srgbClr val="FAFCFD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5F21F7-AB70-4968-BB70-6664792F2959}"/>
              </a:ext>
            </a:extLst>
          </p:cNvPr>
          <p:cNvSpPr>
            <a:spLocks noGrp="1"/>
          </p:cNvSpPr>
          <p:nvPr/>
        </p:nvSpPr>
        <p:spPr>
          <a:xfrm>
            <a:off x="847725" y="4632198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 dirty="0">
                <a:solidFill>
                  <a:srgbClr val="1B3139"/>
                </a:solidFill>
              </a:rPr>
              <a:t>Meetup thesis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C05371-2996-4573-BB72-24A92CB3EF6E}"/>
              </a:ext>
            </a:extLst>
          </p:cNvPr>
          <p:cNvSpPr>
            <a:spLocks noGrp="1"/>
          </p:cNvSpPr>
          <p:nvPr/>
        </p:nvSpPr>
        <p:spPr>
          <a:xfrm>
            <a:off x="920496" y="4895850"/>
            <a:ext cx="8686800" cy="19050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558469-7628-41B4-84CC-3D13A4D2F98F}"/>
              </a:ext>
            </a:extLst>
          </p:cNvPr>
          <p:cNvSpPr>
            <a:spLocks noGrp="1"/>
          </p:cNvSpPr>
          <p:nvPr/>
        </p:nvSpPr>
        <p:spPr>
          <a:xfrm>
            <a:off x="849249" y="4975098"/>
            <a:ext cx="8686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 dirty="0">
                <a:solidFill>
                  <a:srgbClr val="243E48"/>
                </a:solidFill>
              </a:rPr>
              <a:t>Use Polly as the project manager that tu</a:t>
            </a:r>
            <a:r>
              <a:rPr lang="en-US" sz="1275" b="0" dirty="0">
                <a:solidFill>
                  <a:srgbClr val="243E48"/>
                </a:solidFill>
              </a:rPr>
              <a:t>r</a:t>
            </a:r>
            <a:r>
              <a:rPr sz="1275" b="0" dirty="0">
                <a:solidFill>
                  <a:srgbClr val="243E48"/>
                </a:solidFill>
              </a:rPr>
              <a:t>ns one Databricks requirement into delegated implementation, cross-agent review, validation, and a final report.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75DE1-A6ED-4CFD-92B3-CCBC87C3E90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4F00BC-C6B4-4B7C-AAE6-FFEE8A3CAF5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D8A698-4F5B-491B-A8F5-0973869C0CB5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96BCFF7-8361-BD9B-A237-F37F4B744891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34" name="Picture 33" descr="Databricks Logo and symbol, meaning, history, PNG, brand">
            <a:extLst>
              <a:ext uri="{FF2B5EF4-FFF2-40B4-BE49-F238E27FC236}">
                <a16:creationId xmlns:a16="http://schemas.microsoft.com/office/drawing/2014/main" id="{2597621F-9DDE-9B26-2B7D-CE29ABD16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276" y="339799"/>
            <a:ext cx="575192" cy="32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4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153381-27FF-4C09-8193-68FD5CC5E3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8432A5-A245-47FE-B67A-C97A5A36D12A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Polly coordinates; specialist agents execute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697669-6013-4BDF-9EED-C483A86AF7A1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The show-runner metaphor works because Polly keeps the workflow coherent.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682C0-7122-4D8D-81FA-F7268058378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6599DB-2B17-40C5-8AFB-6430B3A9D57D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3143250" cy="2714625"/>
          </a:xfrm>
          <a:prstGeom prst="roundRect">
            <a:avLst>
              <a:gd name="adj" fmla="val 2807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7C9B00-FEC8-451A-92F9-93DF6836656B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1B3139"/>
                </a:solidFill>
              </a:defRPr>
            </a:pPr>
            <a:r>
              <a:rPr sz="2550" b="1">
                <a:solidFill>
                  <a:srgbClr val="1B3139"/>
                </a:solidFill>
              </a:rPr>
              <a:t>Polly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DB7FBF-3A3E-48A7-A920-FE3F0A0762BA}"/>
              </a:ext>
            </a:extLst>
          </p:cNvPr>
          <p:cNvSpPr>
            <a:spLocks noGrp="1"/>
          </p:cNvSpPr>
          <p:nvPr/>
        </p:nvSpPr>
        <p:spPr>
          <a:xfrm>
            <a:off x="1143000" y="3209925"/>
            <a:ext cx="85725" cy="85725"/>
          </a:xfrm>
          <a:prstGeom prst="ellipse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41AC5-207C-48FE-8BD1-3B55940FBEAC}"/>
              </a:ext>
            </a:extLst>
          </p:cNvPr>
          <p:cNvSpPr>
            <a:spLocks noGrp="1"/>
          </p:cNvSpPr>
          <p:nvPr/>
        </p:nvSpPr>
        <p:spPr>
          <a:xfrm>
            <a:off x="1333500" y="31242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Receives high-level requirements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9424B0-278F-44A3-9686-135F37FEDA7D}"/>
              </a:ext>
            </a:extLst>
          </p:cNvPr>
          <p:cNvSpPr>
            <a:spLocks noGrp="1"/>
          </p:cNvSpPr>
          <p:nvPr/>
        </p:nvSpPr>
        <p:spPr>
          <a:xfrm>
            <a:off x="1143000" y="3648075"/>
            <a:ext cx="85725" cy="85725"/>
          </a:xfrm>
          <a:prstGeom prst="ellipse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076936-93E6-4DF7-AB97-4F3AD8E8348D}"/>
              </a:ext>
            </a:extLst>
          </p:cNvPr>
          <p:cNvSpPr>
            <a:spLocks noGrp="1"/>
          </p:cNvSpPr>
          <p:nvPr/>
        </p:nvSpPr>
        <p:spPr>
          <a:xfrm>
            <a:off x="1333500" y="35623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Breaks work into subtasks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A6C502-8DAC-4B8A-B537-F2586234DB19}"/>
              </a:ext>
            </a:extLst>
          </p:cNvPr>
          <p:cNvSpPr>
            <a:spLocks noGrp="1"/>
          </p:cNvSpPr>
          <p:nvPr/>
        </p:nvSpPr>
        <p:spPr>
          <a:xfrm>
            <a:off x="1143000" y="4086225"/>
            <a:ext cx="85725" cy="85725"/>
          </a:xfrm>
          <a:prstGeom prst="ellipse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68BA5D-33AC-49C9-AA78-6D000476F088}"/>
              </a:ext>
            </a:extLst>
          </p:cNvPr>
          <p:cNvSpPr>
            <a:spLocks noGrp="1"/>
          </p:cNvSpPr>
          <p:nvPr/>
        </p:nvSpPr>
        <p:spPr>
          <a:xfrm>
            <a:off x="1333500" y="400050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Routes review and handoffs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BD8A9E-6C24-4643-ABCF-CAB47BE6089B}"/>
              </a:ext>
            </a:extLst>
          </p:cNvPr>
          <p:cNvSpPr>
            <a:spLocks noGrp="1"/>
          </p:cNvSpPr>
          <p:nvPr/>
        </p:nvSpPr>
        <p:spPr>
          <a:xfrm>
            <a:off x="1143000" y="4524375"/>
            <a:ext cx="85725" cy="85725"/>
          </a:xfrm>
          <a:prstGeom prst="ellipse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43E32-5899-4B7B-99B4-A048D5B9C81E}"/>
              </a:ext>
            </a:extLst>
          </p:cNvPr>
          <p:cNvSpPr>
            <a:spLocks noGrp="1"/>
          </p:cNvSpPr>
          <p:nvPr/>
        </p:nvSpPr>
        <p:spPr>
          <a:xfrm>
            <a:off x="1333500" y="4438650"/>
            <a:ext cx="228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Summarizes outcomes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69E8E9-6593-4413-88E2-525AC4B885CD}"/>
              </a:ext>
            </a:extLst>
          </p:cNvPr>
          <p:cNvSpPr>
            <a:spLocks noGrp="1"/>
          </p:cNvSpPr>
          <p:nvPr/>
        </p:nvSpPr>
        <p:spPr>
          <a:xfrm>
            <a:off x="4857750" y="2190750"/>
            <a:ext cx="5715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04A33F-75A5-4172-924F-2913513DBC18}"/>
              </a:ext>
            </a:extLst>
          </p:cNvPr>
          <p:cNvSpPr>
            <a:spLocks noGrp="1"/>
          </p:cNvSpPr>
          <p:nvPr/>
        </p:nvSpPr>
        <p:spPr>
          <a:xfrm>
            <a:off x="5143500" y="23526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B3139"/>
                </a:solidFill>
              </a:defRPr>
            </a:pPr>
            <a:r>
              <a:rPr sz="1500" b="1">
                <a:solidFill>
                  <a:srgbClr val="1B3139"/>
                </a:solidFill>
              </a:rPr>
              <a:t>ChatGPT / Codex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97D5B0-4994-43A9-A3D8-F2B7BFBA6CBC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PySpark, SQL, notebook generation, validation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DB31FB4-0AE9-4684-BB83-0D6C2907F49B}"/>
              </a:ext>
            </a:extLst>
          </p:cNvPr>
          <p:cNvSpPr>
            <a:spLocks noGrp="1"/>
          </p:cNvSpPr>
          <p:nvPr/>
        </p:nvSpPr>
        <p:spPr>
          <a:xfrm>
            <a:off x="4857750" y="3105150"/>
            <a:ext cx="5715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255EF-5D5D-4F71-B564-D49E89A489AF}"/>
              </a:ext>
            </a:extLst>
          </p:cNvPr>
          <p:cNvSpPr>
            <a:spLocks noGrp="1"/>
          </p:cNvSpPr>
          <p:nvPr/>
        </p:nvSpPr>
        <p:spPr>
          <a:xfrm>
            <a:off x="5143500" y="32670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3621"/>
                </a:solidFill>
              </a:defRPr>
            </a:pPr>
            <a:r>
              <a:rPr sz="1500" b="1">
                <a:solidFill>
                  <a:srgbClr val="FF3621"/>
                </a:solidFill>
              </a:rPr>
              <a:t>Claude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85DB75-B762-44E6-B0B7-F76D22F8F78D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Architecture review, documentation, code quality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0A510-A70B-435C-AC5E-53DD7E8C7552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57150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93F987-6EBE-492A-A680-5C81071EEB15}"/>
              </a:ext>
            </a:extLst>
          </p:cNvPr>
          <p:cNvSpPr>
            <a:spLocks noGrp="1"/>
          </p:cNvSpPr>
          <p:nvPr/>
        </p:nvSpPr>
        <p:spPr>
          <a:xfrm>
            <a:off x="5143500" y="41814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B3139"/>
                </a:solidFill>
              </a:defRPr>
            </a:pPr>
            <a:r>
              <a:rPr sz="1500" b="1">
                <a:solidFill>
                  <a:srgbClr val="1B3139"/>
                </a:solidFill>
              </a:rPr>
              <a:t>Human presenter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2D368E-0A1B-469B-8AE3-917429CFBDD4}"/>
              </a:ext>
            </a:extLst>
          </p:cNvPr>
          <p:cNvSpPr>
            <a:spLocks noGrp="1"/>
          </p:cNvSpPr>
          <p:nvPr/>
        </p:nvSpPr>
        <p:spPr>
          <a:xfrm>
            <a:off x="7239000" y="41719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 dirty="0">
                <a:solidFill>
                  <a:srgbClr val="61747B"/>
                </a:solidFill>
              </a:rPr>
              <a:t>Final approval, Databricks execution, production judgment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8583FCD-33AB-4643-95B0-2796B99FE89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5BE27C-6BAC-4B16-998F-B40DC1E970E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497D19-0E76-4B44-96DD-98E69C80AEDC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21A4A9-19B9-C47E-8EE0-978161865B56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38" name="Picture 37" descr="Databricks Logo and symbol, meaning, history, PNG, brand">
            <a:extLst>
              <a:ext uri="{FF2B5EF4-FFF2-40B4-BE49-F238E27FC236}">
                <a16:creationId xmlns:a16="http://schemas.microsoft.com/office/drawing/2014/main" id="{2E84559C-D1F2-31CE-2B5F-56FDE23C2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6E0C591-7418-478F-BF33-DEB45D0F97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8C0740-E20E-4A7C-8662-BB50966F77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2CD6BB-8FD4-4736-8948-55C34BB9831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The demo architecture stays simple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4065B1-DEF8-4D44-98FD-B53860BF848D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Local orchestration, Databricks execution, and a tested fallback notebook.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0CD51-02E4-4B22-A2B5-2238FBB5C3DE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71D518-65E4-4C41-9C45-D38004E779E6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4D1907-213E-41EC-AA07-C72689A20044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1123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>
                <a:solidFill>
                  <a:srgbClr val="1B3139"/>
                </a:solidFill>
              </a:rPr>
              <a:t>Presenter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6B6909-26A5-4763-A4EE-818F340E9475}"/>
              </a:ext>
            </a:extLst>
          </p:cNvPr>
          <p:cNvSpPr>
            <a:spLocks noGrp="1"/>
          </p:cNvSpPr>
          <p:nvPr/>
        </p:nvSpPr>
        <p:spPr>
          <a:xfrm>
            <a:off x="2305050" y="3371850"/>
            <a:ext cx="476250" cy="28575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B5775A-357B-4669-8CCD-825F4F2DB366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86E63E-8431-4AD8-B28C-75B5D68FCDD8}"/>
              </a:ext>
            </a:extLst>
          </p:cNvPr>
          <p:cNvSpPr>
            <a:spLocks noGrp="1"/>
          </p:cNvSpPr>
          <p:nvPr/>
        </p:nvSpPr>
        <p:spPr>
          <a:xfrm>
            <a:off x="3009900" y="3181350"/>
            <a:ext cx="1123950" cy="5494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 err="1">
                <a:solidFill>
                  <a:srgbClr val="1B3139"/>
                </a:solidFill>
              </a:rPr>
              <a:t>Omnigent</a:t>
            </a:r>
            <a:endParaRPr sz="1425" b="1" dirty="0">
              <a:solidFill>
                <a:srgbClr val="1B3139"/>
              </a:solidFill>
            </a:endParaRPr>
          </a:p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>
                <a:solidFill>
                  <a:srgbClr val="1B3139"/>
                </a:solidFill>
              </a:rPr>
              <a:t>Docker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538F45-32DD-4644-B467-B195E922A4C5}"/>
              </a:ext>
            </a:extLst>
          </p:cNvPr>
          <p:cNvSpPr>
            <a:spLocks noGrp="1"/>
          </p:cNvSpPr>
          <p:nvPr/>
        </p:nvSpPr>
        <p:spPr>
          <a:xfrm>
            <a:off x="4400550" y="3371850"/>
            <a:ext cx="476250" cy="2857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901CB93-7B99-4F98-84F3-7DA939080233}"/>
              </a:ext>
            </a:extLst>
          </p:cNvPr>
          <p:cNvSpPr>
            <a:spLocks noGrp="1"/>
          </p:cNvSpPr>
          <p:nvPr/>
        </p:nvSpPr>
        <p:spPr>
          <a:xfrm>
            <a:off x="5000625" y="28575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D02E9F-38C4-4FFD-9115-F2D906ADDD63}"/>
              </a:ext>
            </a:extLst>
          </p:cNvPr>
          <p:cNvSpPr>
            <a:spLocks noGrp="1"/>
          </p:cNvSpPr>
          <p:nvPr/>
        </p:nvSpPr>
        <p:spPr>
          <a:xfrm>
            <a:off x="5153025" y="3181350"/>
            <a:ext cx="1123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>
                <a:solidFill>
                  <a:srgbClr val="1B3139"/>
                </a:solidFill>
              </a:rPr>
              <a:t>Polly</a:t>
            </a:r>
          </a:p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>
                <a:solidFill>
                  <a:srgbClr val="1B3139"/>
                </a:solidFill>
              </a:rPr>
              <a:t>Supervisor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D0231B-536F-43E1-9CBF-7A51E759546E}"/>
              </a:ext>
            </a:extLst>
          </p:cNvPr>
          <p:cNvSpPr>
            <a:spLocks noGrp="1"/>
          </p:cNvSpPr>
          <p:nvPr/>
        </p:nvSpPr>
        <p:spPr>
          <a:xfrm>
            <a:off x="6543675" y="3371850"/>
            <a:ext cx="476250" cy="28575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4E80891-C624-4599-8D8D-F6BBF71434E4}"/>
              </a:ext>
            </a:extLst>
          </p:cNvPr>
          <p:cNvSpPr>
            <a:spLocks noGrp="1"/>
          </p:cNvSpPr>
          <p:nvPr/>
        </p:nvSpPr>
        <p:spPr>
          <a:xfrm>
            <a:off x="7143750" y="28575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FC916C-5A3A-44BC-9201-C6ADB63C2E90}"/>
              </a:ext>
            </a:extLst>
          </p:cNvPr>
          <p:cNvSpPr>
            <a:spLocks noGrp="1"/>
          </p:cNvSpPr>
          <p:nvPr/>
        </p:nvSpPr>
        <p:spPr>
          <a:xfrm>
            <a:off x="7296150" y="3181350"/>
            <a:ext cx="1123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>
                <a:solidFill>
                  <a:srgbClr val="1B3139"/>
                </a:solidFill>
              </a:rPr>
              <a:t>Agent</a:t>
            </a:r>
          </a:p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 err="1">
                <a:solidFill>
                  <a:srgbClr val="1B3139"/>
                </a:solidFill>
              </a:rPr>
              <a:t>Worktrees</a:t>
            </a:r>
            <a:endParaRPr sz="1425" b="1" dirty="0">
              <a:solidFill>
                <a:srgbClr val="1B3139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12DF6C-DC2D-4C5C-8FA5-F9BD8549391C}"/>
              </a:ext>
            </a:extLst>
          </p:cNvPr>
          <p:cNvSpPr>
            <a:spLocks noGrp="1"/>
          </p:cNvSpPr>
          <p:nvPr/>
        </p:nvSpPr>
        <p:spPr>
          <a:xfrm>
            <a:off x="8686800" y="3371850"/>
            <a:ext cx="476250" cy="28575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7D9459-0077-4F50-9797-208E03B3E43A}"/>
              </a:ext>
            </a:extLst>
          </p:cNvPr>
          <p:cNvSpPr>
            <a:spLocks noGrp="1"/>
          </p:cNvSpPr>
          <p:nvPr/>
        </p:nvSpPr>
        <p:spPr>
          <a:xfrm>
            <a:off x="9286875" y="28575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695BDA-A4B6-4ACE-8D92-07757261C863}"/>
              </a:ext>
            </a:extLst>
          </p:cNvPr>
          <p:cNvSpPr>
            <a:spLocks noGrp="1"/>
          </p:cNvSpPr>
          <p:nvPr/>
        </p:nvSpPr>
        <p:spPr>
          <a:xfrm>
            <a:off x="9439275" y="3181350"/>
            <a:ext cx="1123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>
                <a:solidFill>
                  <a:srgbClr val="1B3139"/>
                </a:solidFill>
              </a:rPr>
              <a:t>Databricks</a:t>
            </a:r>
          </a:p>
          <a:p>
            <a:pPr algn="ctr">
              <a:defRPr sz="1425" b="1">
                <a:solidFill>
                  <a:srgbClr val="1B3139"/>
                </a:solidFill>
              </a:defRPr>
            </a:pPr>
            <a:r>
              <a:rPr sz="1425" b="1" dirty="0">
                <a:solidFill>
                  <a:srgbClr val="1B3139"/>
                </a:solidFill>
              </a:rPr>
              <a:t>Free Edition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38D796-B214-4BA9-B27A-1EA3C8F909C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DFE3D6-E095-40A6-AA4C-497251E43BA1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0CC937-2E76-45CD-A638-BA4C1E7F6C14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4CBF53-2271-F97A-0EB0-A0F32E468E4E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34" name="Picture 33" descr="Databricks Logo and symbol, meaning, history, PNG, brand">
            <a:extLst>
              <a:ext uri="{FF2B5EF4-FFF2-40B4-BE49-F238E27FC236}">
                <a16:creationId xmlns:a16="http://schemas.microsoft.com/office/drawing/2014/main" id="{389D9EB7-93DD-4744-873E-74D5B6062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4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D9AC234-EE51-4AB1-9A28-008AD05D82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4C3A1F-E6A0-45C3-BB15-4D3720A72F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D26E54-FFD7-449E-A2DD-872A81547A98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The routing model gives Polly a contract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41E2DF-43D5-4093-A85B-98F708A6FFD7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The YAML file turns a demo idea into repeatable delegation rules.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D74234-78AE-4B1E-8ADC-46C848863E5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33DA88-41E1-4E98-84B7-ACD200862B7A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16764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D0C578-1493-4119-B0EF-597FC1F3717A}"/>
              </a:ext>
            </a:extLst>
          </p:cNvPr>
          <p:cNvSpPr>
            <a:spLocks noGrp="1"/>
          </p:cNvSpPr>
          <p:nvPr/>
        </p:nvSpPr>
        <p:spPr>
          <a:xfrm>
            <a:off x="971550" y="2590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rPr sz="1800" b="1">
                <a:solidFill>
                  <a:srgbClr val="00D2FF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C9E1BC-9467-40D5-A76D-C18B677B9263}"/>
              </a:ext>
            </a:extLst>
          </p:cNvPr>
          <p:cNvSpPr>
            <a:spLocks noGrp="1"/>
          </p:cNvSpPr>
          <p:nvPr/>
        </p:nvSpPr>
        <p:spPr>
          <a:xfrm>
            <a:off x="971550" y="3028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Intake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A5C37-8BB1-412E-AE93-261460C65BD9}"/>
              </a:ext>
            </a:extLst>
          </p:cNvPr>
          <p:cNvSpPr>
            <a:spLocks noGrp="1"/>
          </p:cNvSpPr>
          <p:nvPr/>
        </p:nvSpPr>
        <p:spPr>
          <a:xfrm>
            <a:off x="971550" y="34861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Capture story and constraints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127C24-91CE-4F02-BC0D-0675931DE81B}"/>
              </a:ext>
            </a:extLst>
          </p:cNvPr>
          <p:cNvSpPr>
            <a:spLocks noGrp="1"/>
          </p:cNvSpPr>
          <p:nvPr/>
        </p:nvSpPr>
        <p:spPr>
          <a:xfrm>
            <a:off x="2581275" y="3181350"/>
            <a:ext cx="285750" cy="2857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EA29F4E-08AF-4A0D-9074-3BDF6E5FE829}"/>
              </a:ext>
            </a:extLst>
          </p:cNvPr>
          <p:cNvSpPr>
            <a:spLocks noGrp="1"/>
          </p:cNvSpPr>
          <p:nvPr/>
        </p:nvSpPr>
        <p:spPr>
          <a:xfrm>
            <a:off x="2943225" y="2381250"/>
            <a:ext cx="16764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30C72E-C8A0-4C37-BF1B-804848FD3696}"/>
              </a:ext>
            </a:extLst>
          </p:cNvPr>
          <p:cNvSpPr>
            <a:spLocks noGrp="1"/>
          </p:cNvSpPr>
          <p:nvPr/>
        </p:nvSpPr>
        <p:spPr>
          <a:xfrm>
            <a:off x="3114675" y="2590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rPr sz="1800" b="1">
                <a:solidFill>
                  <a:srgbClr val="00D2FF"/>
                </a:solidFill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01D9D6-ACEC-4379-8646-40FD956F1D52}"/>
              </a:ext>
            </a:extLst>
          </p:cNvPr>
          <p:cNvSpPr>
            <a:spLocks noGrp="1"/>
          </p:cNvSpPr>
          <p:nvPr/>
        </p:nvSpPr>
        <p:spPr>
          <a:xfrm>
            <a:off x="3114675" y="3028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Decompose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B5EE93-61D3-42E1-9293-5DD19F6768DD}"/>
              </a:ext>
            </a:extLst>
          </p:cNvPr>
          <p:cNvSpPr>
            <a:spLocks noGrp="1"/>
          </p:cNvSpPr>
          <p:nvPr/>
        </p:nvSpPr>
        <p:spPr>
          <a:xfrm>
            <a:off x="3114675" y="34861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Split data, ML, docs, tests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6D8748-C340-41C8-8BE5-9E4B72B3C3DB}"/>
              </a:ext>
            </a:extLst>
          </p:cNvPr>
          <p:cNvSpPr>
            <a:spLocks noGrp="1"/>
          </p:cNvSpPr>
          <p:nvPr/>
        </p:nvSpPr>
        <p:spPr>
          <a:xfrm>
            <a:off x="4724400" y="3181350"/>
            <a:ext cx="285750" cy="2857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92F3E20-3E6E-45F0-8303-640244AF5130}"/>
              </a:ext>
            </a:extLst>
          </p:cNvPr>
          <p:cNvSpPr>
            <a:spLocks noGrp="1"/>
          </p:cNvSpPr>
          <p:nvPr/>
        </p:nvSpPr>
        <p:spPr>
          <a:xfrm>
            <a:off x="5086350" y="2381250"/>
            <a:ext cx="1676400" cy="1619250"/>
          </a:xfrm>
          <a:prstGeom prst="roundRect">
            <a:avLst>
              <a:gd name="adj" fmla="val 4706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5E8E8D-4E1C-46E8-B191-A5AF144B8365}"/>
              </a:ext>
            </a:extLst>
          </p:cNvPr>
          <p:cNvSpPr>
            <a:spLocks noGrp="1"/>
          </p:cNvSpPr>
          <p:nvPr/>
        </p:nvSpPr>
        <p:spPr>
          <a:xfrm>
            <a:off x="5257800" y="2590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3621"/>
                </a:solidFill>
              </a:defRPr>
            </a:pPr>
            <a:r>
              <a:rPr sz="1800" b="1">
                <a:solidFill>
                  <a:srgbClr val="FF3621"/>
                </a:solidFill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CA9044-0711-47C9-B440-D18882E35888}"/>
              </a:ext>
            </a:extLst>
          </p:cNvPr>
          <p:cNvSpPr>
            <a:spLocks noGrp="1"/>
          </p:cNvSpPr>
          <p:nvPr/>
        </p:nvSpPr>
        <p:spPr>
          <a:xfrm>
            <a:off x="5257800" y="3028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Assign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778A11-3909-4BD0-8336-86CF3AC9247D}"/>
              </a:ext>
            </a:extLst>
          </p:cNvPr>
          <p:cNvSpPr>
            <a:spLocks noGrp="1"/>
          </p:cNvSpPr>
          <p:nvPr/>
        </p:nvSpPr>
        <p:spPr>
          <a:xfrm>
            <a:off x="5257800" y="34861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Match tasks to agents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1E2F6C-9234-4A56-9D42-E920EAE0DECF}"/>
              </a:ext>
            </a:extLst>
          </p:cNvPr>
          <p:cNvSpPr>
            <a:spLocks noGrp="1"/>
          </p:cNvSpPr>
          <p:nvPr/>
        </p:nvSpPr>
        <p:spPr>
          <a:xfrm>
            <a:off x="6867525" y="3181350"/>
            <a:ext cx="285750" cy="2857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0AC9F7-04DC-4D65-A3A1-4C163F7B66EC}"/>
              </a:ext>
            </a:extLst>
          </p:cNvPr>
          <p:cNvSpPr>
            <a:spLocks noGrp="1"/>
          </p:cNvSpPr>
          <p:nvPr/>
        </p:nvSpPr>
        <p:spPr>
          <a:xfrm>
            <a:off x="7229475" y="2381250"/>
            <a:ext cx="16764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409B6D3-1CC3-4E88-A0C8-792C9A66EADA}"/>
              </a:ext>
            </a:extLst>
          </p:cNvPr>
          <p:cNvSpPr>
            <a:spLocks noGrp="1"/>
          </p:cNvSpPr>
          <p:nvPr/>
        </p:nvSpPr>
        <p:spPr>
          <a:xfrm>
            <a:off x="7400925" y="2590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rPr sz="1800" b="1">
                <a:solidFill>
                  <a:srgbClr val="00D2FF"/>
                </a:solidFill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654D57-AC57-49A8-985E-B029EB3347E4}"/>
              </a:ext>
            </a:extLst>
          </p:cNvPr>
          <p:cNvSpPr>
            <a:spLocks noGrp="1"/>
          </p:cNvSpPr>
          <p:nvPr/>
        </p:nvSpPr>
        <p:spPr>
          <a:xfrm>
            <a:off x="7400925" y="3028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Review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677882-2BF6-482F-87D7-0610636AD8D2}"/>
              </a:ext>
            </a:extLst>
          </p:cNvPr>
          <p:cNvSpPr>
            <a:spLocks noGrp="1"/>
          </p:cNvSpPr>
          <p:nvPr/>
        </p:nvSpPr>
        <p:spPr>
          <a:xfrm>
            <a:off x="7400925" y="34861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Route findings back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28A55C-C31F-40B3-990B-D9323218D9E6}"/>
              </a:ext>
            </a:extLst>
          </p:cNvPr>
          <p:cNvSpPr>
            <a:spLocks noGrp="1"/>
          </p:cNvSpPr>
          <p:nvPr/>
        </p:nvSpPr>
        <p:spPr>
          <a:xfrm>
            <a:off x="9010650" y="3181350"/>
            <a:ext cx="285750" cy="2857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2983003-6BAC-4FF6-91F3-CAF7B07D2CB9}"/>
              </a:ext>
            </a:extLst>
          </p:cNvPr>
          <p:cNvSpPr>
            <a:spLocks noGrp="1"/>
          </p:cNvSpPr>
          <p:nvPr/>
        </p:nvSpPr>
        <p:spPr>
          <a:xfrm>
            <a:off x="9372600" y="2381250"/>
            <a:ext cx="16764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BCE101-09AB-4708-A0FB-4F32799C0181}"/>
              </a:ext>
            </a:extLst>
          </p:cNvPr>
          <p:cNvSpPr>
            <a:spLocks noGrp="1"/>
          </p:cNvSpPr>
          <p:nvPr/>
        </p:nvSpPr>
        <p:spPr>
          <a:xfrm>
            <a:off x="9544050" y="2590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rPr sz="1800" b="1">
                <a:solidFill>
                  <a:srgbClr val="00D2FF"/>
                </a:solidFill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DD9702-3C00-4C4B-95D2-BC1CDD339DB0}"/>
              </a:ext>
            </a:extLst>
          </p:cNvPr>
          <p:cNvSpPr>
            <a:spLocks noGrp="1"/>
          </p:cNvSpPr>
          <p:nvPr/>
        </p:nvSpPr>
        <p:spPr>
          <a:xfrm>
            <a:off x="9544050" y="3028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Validate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057CF3-A39A-438F-872D-F51F9C0ED52D}"/>
              </a:ext>
            </a:extLst>
          </p:cNvPr>
          <p:cNvSpPr>
            <a:spLocks noGrp="1"/>
          </p:cNvSpPr>
          <p:nvPr/>
        </p:nvSpPr>
        <p:spPr>
          <a:xfrm>
            <a:off x="9544050" y="34861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Run checks and report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22B2480-EF92-41A3-AAD1-733A36D257F9}"/>
              </a:ext>
            </a:extLst>
          </p:cNvPr>
          <p:cNvSpPr>
            <a:spLocks noGrp="1"/>
          </p:cNvSpPr>
          <p:nvPr/>
        </p:nvSpPr>
        <p:spPr>
          <a:xfrm>
            <a:off x="1571625" y="4810125"/>
            <a:ext cx="9048750" cy="838200"/>
          </a:xfrm>
          <a:prstGeom prst="roundRect">
            <a:avLst>
              <a:gd name="adj" fmla="val 9091"/>
            </a:avLst>
          </a:prstGeom>
          <a:solidFill>
            <a:srgbClr val="FAFCFD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D46737-FCC4-44B9-ADDA-DF5590C05D81}"/>
              </a:ext>
            </a:extLst>
          </p:cNvPr>
          <p:cNvSpPr>
            <a:spLocks noGrp="1"/>
          </p:cNvSpPr>
          <p:nvPr/>
        </p:nvSpPr>
        <p:spPr>
          <a:xfrm>
            <a:off x="1638300" y="4881563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 dirty="0">
                <a:solidFill>
                  <a:srgbClr val="1B3139"/>
                </a:solidFill>
              </a:rPr>
              <a:t>Routing model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E1BD5A7-488D-4A4E-847F-7F0D6ECA5527}"/>
              </a:ext>
            </a:extLst>
          </p:cNvPr>
          <p:cNvSpPr>
            <a:spLocks noGrp="1"/>
          </p:cNvSpPr>
          <p:nvPr/>
        </p:nvSpPr>
        <p:spPr>
          <a:xfrm>
            <a:off x="1638300" y="5114925"/>
            <a:ext cx="8591550" cy="19050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ECAD8D-2BFA-428B-B0C3-0FEF56DF5711}"/>
              </a:ext>
            </a:extLst>
          </p:cNvPr>
          <p:cNvSpPr>
            <a:spLocks noGrp="1"/>
          </p:cNvSpPr>
          <p:nvPr/>
        </p:nvSpPr>
        <p:spPr>
          <a:xfrm>
            <a:off x="1619250" y="5076825"/>
            <a:ext cx="85915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 dirty="0" err="1">
                <a:solidFill>
                  <a:srgbClr val="243E48"/>
                </a:solidFill>
              </a:rPr>
              <a:t>polly</a:t>
            </a:r>
            <a:r>
              <a:rPr sz="1275" b="0" dirty="0">
                <a:solidFill>
                  <a:srgbClr val="243E48"/>
                </a:solidFill>
              </a:rPr>
              <a:t>-routing-</a:t>
            </a:r>
            <a:r>
              <a:rPr sz="1275" b="0" dirty="0" err="1">
                <a:solidFill>
                  <a:srgbClr val="243E48"/>
                </a:solidFill>
              </a:rPr>
              <a:t>model.yaml</a:t>
            </a:r>
            <a:r>
              <a:rPr sz="1275" b="0" dirty="0">
                <a:solidFill>
                  <a:srgbClr val="243E48"/>
                </a:solidFill>
              </a:rPr>
              <a:t> defines roles, agent strengths, workflow boundaries, conflict handling, and validation checks.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4CD54F1-88AB-4C01-986E-A3BCD661AFD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880ACEC-272D-4B98-93DD-BD583F7E48D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ECA787B-4BAA-466F-B34C-50A3FEA94632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05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9CBB16-4D53-2E7D-AD19-48D49F08EEFB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46" name="Picture 45" descr="Databricks Logo and symbol, meaning, history, PNG, brand">
            <a:extLst>
              <a:ext uri="{FF2B5EF4-FFF2-40B4-BE49-F238E27FC236}">
                <a16:creationId xmlns:a16="http://schemas.microsoft.com/office/drawing/2014/main" id="{2DEB14A0-34A1-48CB-BB02-EAB5FC73B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D87827C-6402-42CE-AA51-D2C2CE31D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1DB-7C84-4846-AA1D-4DC6059C65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AB46F-F91F-4CE2-9465-7C1A40A56B4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Agent assignments make the workflow transparent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2A0A5D-ADBA-471A-AAD1-D9ACCAA3172E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The table gives attendees a clear view of ownership and output.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C970B6-4A16-4E66-86EE-7E331C99C9F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18C709-E6DD-4BD1-84E9-C43B69B7FFF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0668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ADC8B4-0DBE-47D8-BFAD-4F8A917D31B1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3621"/>
                </a:solidFill>
              </a:defRPr>
            </a:pPr>
            <a:r>
              <a:rPr sz="1350" b="1">
                <a:solidFill>
                  <a:srgbClr val="FF3621"/>
                </a:solidFill>
              </a:rPr>
              <a:t>Workstream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8CCB4-B70E-49D7-A9E0-569E04BECAF5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3621"/>
                </a:solidFill>
              </a:defRPr>
            </a:pPr>
            <a:r>
              <a:rPr sz="1350" b="1">
                <a:solidFill>
                  <a:srgbClr val="FF3621"/>
                </a:solidFill>
              </a:rPr>
              <a:t>Owner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B35D4C-AD6D-4672-8700-43BEB0B66434}"/>
              </a:ext>
            </a:extLst>
          </p:cNvPr>
          <p:cNvSpPr>
            <a:spLocks noGrp="1"/>
          </p:cNvSpPr>
          <p:nvPr/>
        </p:nvSpPr>
        <p:spPr>
          <a:xfrm>
            <a:off x="8001000" y="22860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3621"/>
                </a:solidFill>
              </a:defRPr>
            </a:pPr>
            <a:r>
              <a:rPr sz="1350" b="1">
                <a:solidFill>
                  <a:srgbClr val="FF3621"/>
                </a:solidFill>
              </a:rPr>
              <a:t>Meetup output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057C5F-201A-4909-BB86-16841B7E30EB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101346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A11844-FC4D-4804-B5FF-FA4DF729C978}"/>
              </a:ext>
            </a:extLst>
          </p:cNvPr>
          <p:cNvSpPr>
            <a:spLocks noGrp="1"/>
          </p:cNvSpPr>
          <p:nvPr/>
        </p:nvSpPr>
        <p:spPr>
          <a:xfrm>
            <a:off x="1143000" y="29146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>
                <a:solidFill>
                  <a:srgbClr val="1B3139"/>
                </a:solidFill>
              </a:rPr>
              <a:t>Notebook scaffold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57341D-9926-4527-B282-48F891D2D093}"/>
              </a:ext>
            </a:extLst>
          </p:cNvPr>
          <p:cNvSpPr>
            <a:spLocks noGrp="1"/>
          </p:cNvSpPr>
          <p:nvPr/>
        </p:nvSpPr>
        <p:spPr>
          <a:xfrm>
            <a:off x="4572000" y="29146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 dirty="0">
                <a:solidFill>
                  <a:srgbClr val="61747B"/>
                </a:solidFill>
              </a:rPr>
              <a:t>ChatGPT / Codex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996F56-03C6-4BEF-9934-982EB70152B6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 dirty="0">
                <a:solidFill>
                  <a:srgbClr val="61747B"/>
                </a:solidFill>
              </a:rPr>
              <a:t>Databricks Python notebook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A89941B-BE90-43AE-8FE2-1DABC418439A}"/>
              </a:ext>
            </a:extLst>
          </p:cNvPr>
          <p:cNvSpPr>
            <a:spLocks noGrp="1"/>
          </p:cNvSpPr>
          <p:nvPr/>
        </p:nvSpPr>
        <p:spPr>
          <a:xfrm>
            <a:off x="990600" y="3286125"/>
            <a:ext cx="10172700" cy="381000"/>
          </a:xfrm>
          <a:prstGeom prst="roundRect">
            <a:avLst>
              <a:gd name="adj" fmla="val 15000"/>
            </a:avLst>
          </a:prstGeom>
          <a:solidFill>
            <a:srgbClr val="EEF4F6"/>
          </a:solidFill>
          <a:ln w="9525">
            <a:solidFill>
              <a:srgbClr val="EE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43922B-E485-4882-8B5A-9211D50A53DE}"/>
              </a:ext>
            </a:extLst>
          </p:cNvPr>
          <p:cNvSpPr>
            <a:spLocks noGrp="1"/>
          </p:cNvSpPr>
          <p:nvPr/>
        </p:nvSpPr>
        <p:spPr>
          <a:xfrm>
            <a:off x="1143000" y="3371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>
                <a:solidFill>
                  <a:srgbClr val="1B3139"/>
                </a:solidFill>
              </a:rPr>
              <a:t>Bronze / silver / gold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42FE79-40C7-44DE-A9AB-08BA60325D50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ChatGPT / Codex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914BAC-420F-4DB6-9578-A690CC10DFA0}"/>
              </a:ext>
            </a:extLst>
          </p:cNvPr>
          <p:cNvSpPr>
            <a:spLocks noGrp="1"/>
          </p:cNvSpPr>
          <p:nvPr/>
        </p:nvSpPr>
        <p:spPr>
          <a:xfrm>
            <a:off x="8001000" y="33718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PySpark transformations and views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306093-E333-4617-A539-443F016F8437}"/>
              </a:ext>
            </a:extLst>
          </p:cNvPr>
          <p:cNvSpPr>
            <a:spLocks noGrp="1"/>
          </p:cNvSpPr>
          <p:nvPr/>
        </p:nvSpPr>
        <p:spPr>
          <a:xfrm>
            <a:off x="1143000" y="3829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>
                <a:solidFill>
                  <a:srgbClr val="1B3139"/>
                </a:solidFill>
              </a:rPr>
              <a:t>Architecture review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FD2F94-F5E6-4B7D-806C-CF2C578D4FCA}"/>
              </a:ext>
            </a:extLst>
          </p:cNvPr>
          <p:cNvSpPr>
            <a:spLocks noGrp="1"/>
          </p:cNvSpPr>
          <p:nvPr/>
        </p:nvSpPr>
        <p:spPr>
          <a:xfrm>
            <a:off x="4572000" y="3829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 dirty="0">
                <a:solidFill>
                  <a:srgbClr val="61747B"/>
                </a:solidFill>
              </a:rPr>
              <a:t>Claude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3F14D7-E4E9-4374-833B-5D71EA698BAD}"/>
              </a:ext>
            </a:extLst>
          </p:cNvPr>
          <p:cNvSpPr>
            <a:spLocks noGrp="1"/>
          </p:cNvSpPr>
          <p:nvPr/>
        </p:nvSpPr>
        <p:spPr>
          <a:xfrm>
            <a:off x="8001000" y="38290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Best-practice and risk findings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833D11-DEC2-49BA-BE48-4C13B5A7F7DC}"/>
              </a:ext>
            </a:extLst>
          </p:cNvPr>
          <p:cNvSpPr>
            <a:spLocks noGrp="1"/>
          </p:cNvSpPr>
          <p:nvPr/>
        </p:nvSpPr>
        <p:spPr>
          <a:xfrm>
            <a:off x="990600" y="4200525"/>
            <a:ext cx="10172700" cy="381000"/>
          </a:xfrm>
          <a:prstGeom prst="roundRect">
            <a:avLst>
              <a:gd name="adj" fmla="val 15000"/>
            </a:avLst>
          </a:prstGeom>
          <a:solidFill>
            <a:srgbClr val="EEF4F6"/>
          </a:solidFill>
          <a:ln w="9525">
            <a:solidFill>
              <a:srgbClr val="EE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596A7E-FE91-4621-9FF0-ABE9195D5F3F}"/>
              </a:ext>
            </a:extLst>
          </p:cNvPr>
          <p:cNvSpPr>
            <a:spLocks noGrp="1"/>
          </p:cNvSpPr>
          <p:nvPr/>
        </p:nvSpPr>
        <p:spPr>
          <a:xfrm>
            <a:off x="1143000" y="4286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 dirty="0">
                <a:solidFill>
                  <a:srgbClr val="1B3139"/>
                </a:solidFill>
              </a:rPr>
              <a:t>Conflict resolution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1118F8-2340-45C4-A2A5-08DF60123890}"/>
              </a:ext>
            </a:extLst>
          </p:cNvPr>
          <p:cNvSpPr>
            <a:spLocks noGrp="1"/>
          </p:cNvSpPr>
          <p:nvPr/>
        </p:nvSpPr>
        <p:spPr>
          <a:xfrm>
            <a:off x="4572000" y="42862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 dirty="0">
                <a:solidFill>
                  <a:srgbClr val="61747B"/>
                </a:solidFill>
              </a:rPr>
              <a:t>Polly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E9C80F-626E-4799-9D39-F5A4C2A020B4}"/>
              </a:ext>
            </a:extLst>
          </p:cNvPr>
          <p:cNvSpPr>
            <a:spLocks noGrp="1"/>
          </p:cNvSpPr>
          <p:nvPr/>
        </p:nvSpPr>
        <p:spPr>
          <a:xfrm>
            <a:off x="8001000" y="42862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Documented decision and rationale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2877FA0-2793-4495-A38A-AE5BA3AED31C}"/>
              </a:ext>
            </a:extLst>
          </p:cNvPr>
          <p:cNvSpPr>
            <a:spLocks noGrp="1"/>
          </p:cNvSpPr>
          <p:nvPr/>
        </p:nvSpPr>
        <p:spPr>
          <a:xfrm>
            <a:off x="1143000" y="4743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>
                <a:solidFill>
                  <a:srgbClr val="1B3139"/>
                </a:solidFill>
              </a:rPr>
              <a:t>Final report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73132F-135A-466C-872E-DE6B260A9B28}"/>
              </a:ext>
            </a:extLst>
          </p:cNvPr>
          <p:cNvSpPr>
            <a:spLocks noGrp="1"/>
          </p:cNvSpPr>
          <p:nvPr/>
        </p:nvSpPr>
        <p:spPr>
          <a:xfrm>
            <a:off x="4572000" y="4743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Polly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FA5EF4-1CB3-4748-8423-93835E86F8B2}"/>
              </a:ext>
            </a:extLst>
          </p:cNvPr>
          <p:cNvSpPr>
            <a:spLocks noGrp="1"/>
          </p:cNvSpPr>
          <p:nvPr/>
        </p:nvSpPr>
        <p:spPr>
          <a:xfrm>
            <a:off x="8001000" y="47434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1747B"/>
                </a:solidFill>
              </a:defRPr>
            </a:pPr>
            <a:r>
              <a:rPr sz="1200" b="0">
                <a:solidFill>
                  <a:srgbClr val="61747B"/>
                </a:solidFill>
              </a:rPr>
              <a:t>Build summary and next steps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ACE6BB-4912-45CE-B18F-860393608F77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15177A-7D05-4302-AE00-0DA3293E4FB5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8222F4-FCCD-465E-B5E9-3F683849D5A1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C2437F-2E25-0033-043C-71DC7BB769F8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40" name="Picture 39" descr="Databricks Logo and symbol, meaning, history, PNG, brand">
            <a:extLst>
              <a:ext uri="{FF2B5EF4-FFF2-40B4-BE49-F238E27FC236}">
                <a16:creationId xmlns:a16="http://schemas.microsoft.com/office/drawing/2014/main" id="{49CEB140-0F48-FAFD-D697-E6F34C767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8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91D65FD-48B3-45E6-92EB-9F149BDB80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AD87F-312B-41AB-8142-D9A73D707A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0F7346-2073-4DDF-A4C7-D4D14ED1380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The live prompt starts as a product request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85119E-2A63-47D9-9AD4-9D184CA3309F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This keeps the demo grounded in a realistic Databricks build.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3F61DF-A5FB-4BC6-9762-F706C1B7327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73FFD0-C887-414F-9053-90F82C2C2C67}"/>
              </a:ext>
            </a:extLst>
          </p:cNvPr>
          <p:cNvSpPr>
            <a:spLocks noGrp="1"/>
          </p:cNvSpPr>
          <p:nvPr/>
        </p:nvSpPr>
        <p:spPr>
          <a:xfrm>
            <a:off x="838200" y="2238375"/>
            <a:ext cx="5334000" cy="2190750"/>
          </a:xfrm>
          <a:prstGeom prst="roundRect">
            <a:avLst>
              <a:gd name="adj" fmla="val 3478"/>
            </a:avLst>
          </a:prstGeom>
          <a:solidFill>
            <a:srgbClr val="FAFCFD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BBAF31-3385-4E93-9C73-C5DA887134BC}"/>
              </a:ext>
            </a:extLst>
          </p:cNvPr>
          <p:cNvSpPr>
            <a:spLocks noGrp="1"/>
          </p:cNvSpPr>
          <p:nvPr/>
        </p:nvSpPr>
        <p:spPr>
          <a:xfrm>
            <a:off x="1066800" y="24098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>
                <a:solidFill>
                  <a:srgbClr val="1B3139"/>
                </a:solidFill>
              </a:rPr>
              <a:t>Requirement intake prompt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DE4AFC-DD19-4EDF-9EB0-68D67EC8117A}"/>
              </a:ext>
            </a:extLst>
          </p:cNvPr>
          <p:cNvSpPr>
            <a:spLocks noGrp="1"/>
          </p:cNvSpPr>
          <p:nvPr/>
        </p:nvSpPr>
        <p:spPr>
          <a:xfrm>
            <a:off x="1066800" y="2714625"/>
            <a:ext cx="4876800" cy="19050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02C0DB-7389-40CF-A407-7644AA4C4C65}"/>
              </a:ext>
            </a:extLst>
          </p:cNvPr>
          <p:cNvSpPr>
            <a:spLocks noGrp="1"/>
          </p:cNvSpPr>
          <p:nvPr/>
        </p:nvSpPr>
        <p:spPr>
          <a:xfrm>
            <a:off x="1066800" y="2886075"/>
            <a:ext cx="48768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>
                <a:solidFill>
                  <a:srgbClr val="243E48"/>
                </a:solidFill>
              </a:rPr>
              <a:t>Build a Databricks retail analytics notebook that ingests synthetic events, creates bronze/silver/gold views, trains a simple forecast model, validates outputs, and produces a final report.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648A0A-8CD7-4028-8B11-5474B3516A2B}"/>
              </a:ext>
            </a:extLst>
          </p:cNvPr>
          <p:cNvSpPr>
            <a:spLocks noGrp="1"/>
          </p:cNvSpPr>
          <p:nvPr/>
        </p:nvSpPr>
        <p:spPr>
          <a:xfrm>
            <a:off x="7000875" y="22098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2E1D1B-ED8D-41C6-83CA-49B3CB21EC13}"/>
              </a:ext>
            </a:extLst>
          </p:cNvPr>
          <p:cNvSpPr>
            <a:spLocks noGrp="1"/>
          </p:cNvSpPr>
          <p:nvPr/>
        </p:nvSpPr>
        <p:spPr>
          <a:xfrm>
            <a:off x="7115175" y="225742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rPr sz="900" b="1">
                <a:solidFill>
                  <a:srgbClr val="00D2FF"/>
                </a:solidFill>
              </a:rPr>
              <a:t>Polly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1B5394-6754-4B53-A813-E49B3DDFF332}"/>
              </a:ext>
            </a:extLst>
          </p:cNvPr>
          <p:cNvSpPr>
            <a:spLocks noGrp="1"/>
          </p:cNvSpPr>
          <p:nvPr/>
        </p:nvSpPr>
        <p:spPr>
          <a:xfrm>
            <a:off x="8382000" y="22479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Break the story into tasks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93A4B5-5588-4C56-B377-05D7CC33C3BC}"/>
              </a:ext>
            </a:extLst>
          </p:cNvPr>
          <p:cNvSpPr>
            <a:spLocks noGrp="1"/>
          </p:cNvSpPr>
          <p:nvPr/>
        </p:nvSpPr>
        <p:spPr>
          <a:xfrm>
            <a:off x="7000875" y="28956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3FDE22-D7A7-4962-80E9-6AA297EE4219}"/>
              </a:ext>
            </a:extLst>
          </p:cNvPr>
          <p:cNvSpPr>
            <a:spLocks noGrp="1"/>
          </p:cNvSpPr>
          <p:nvPr/>
        </p:nvSpPr>
        <p:spPr>
          <a:xfrm>
            <a:off x="7115175" y="294322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rPr sz="900" b="1">
                <a:solidFill>
                  <a:srgbClr val="00D2FF"/>
                </a:solidFill>
              </a:rPr>
              <a:t>Codex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AD5A2B-46E6-4544-A601-06D89A146D4E}"/>
              </a:ext>
            </a:extLst>
          </p:cNvPr>
          <p:cNvSpPr>
            <a:spLocks noGrp="1"/>
          </p:cNvSpPr>
          <p:nvPr/>
        </p:nvSpPr>
        <p:spPr>
          <a:xfrm>
            <a:off x="8382000" y="29337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Generate notebook code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621B2B-5672-45FD-801A-90FE07AF1752}"/>
              </a:ext>
            </a:extLst>
          </p:cNvPr>
          <p:cNvSpPr>
            <a:spLocks noGrp="1"/>
          </p:cNvSpPr>
          <p:nvPr/>
        </p:nvSpPr>
        <p:spPr>
          <a:xfrm>
            <a:off x="7000875" y="35814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5E282D-8272-4776-9418-02302B6BCC52}"/>
              </a:ext>
            </a:extLst>
          </p:cNvPr>
          <p:cNvSpPr>
            <a:spLocks noGrp="1"/>
          </p:cNvSpPr>
          <p:nvPr/>
        </p:nvSpPr>
        <p:spPr>
          <a:xfrm>
            <a:off x="7115175" y="362902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3621"/>
                </a:solidFill>
              </a:defRPr>
            </a:pPr>
            <a:r>
              <a:rPr sz="900" b="1">
                <a:solidFill>
                  <a:srgbClr val="FF3621"/>
                </a:solidFill>
              </a:rPr>
              <a:t>Claude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070F55-33DE-40A5-812E-89642DA84D28}"/>
              </a:ext>
            </a:extLst>
          </p:cNvPr>
          <p:cNvSpPr>
            <a:spLocks noGrp="1"/>
          </p:cNvSpPr>
          <p:nvPr/>
        </p:nvSpPr>
        <p:spPr>
          <a:xfrm>
            <a:off x="8382000" y="36195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Review architecture and quality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269F29C-A9EB-4450-BD07-5181BDB96E68}"/>
              </a:ext>
            </a:extLst>
          </p:cNvPr>
          <p:cNvSpPr>
            <a:spLocks noGrp="1"/>
          </p:cNvSpPr>
          <p:nvPr/>
        </p:nvSpPr>
        <p:spPr>
          <a:xfrm>
            <a:off x="7000875" y="4267200"/>
            <a:ext cx="1123950" cy="285750"/>
          </a:xfrm>
          <a:prstGeom prst="roundRect">
            <a:avLst>
              <a:gd name="adj" fmla="val 26667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12DB1F-8393-41FA-9A75-236C5C3E3128}"/>
              </a:ext>
            </a:extLst>
          </p:cNvPr>
          <p:cNvSpPr>
            <a:spLocks noGrp="1"/>
          </p:cNvSpPr>
          <p:nvPr/>
        </p:nvSpPr>
        <p:spPr>
          <a:xfrm>
            <a:off x="7115175" y="4314825"/>
            <a:ext cx="89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rPr sz="900" b="1">
                <a:solidFill>
                  <a:srgbClr val="00D2FF"/>
                </a:solidFill>
              </a:rPr>
              <a:t>Databricks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0B0CD4-1BD9-466B-A463-DEB0DF6A886B}"/>
              </a:ext>
            </a:extLst>
          </p:cNvPr>
          <p:cNvSpPr>
            <a:spLocks noGrp="1"/>
          </p:cNvSpPr>
          <p:nvPr/>
        </p:nvSpPr>
        <p:spPr>
          <a:xfrm>
            <a:off x="8382000" y="4305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Run approved notebook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1784787-FE3E-4C93-A3D1-3FFEBC540321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9906000" cy="590550"/>
          </a:xfrm>
          <a:prstGeom prst="roundRect">
            <a:avLst>
              <a:gd name="adj" fmla="val 12903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DE8DE7-F20A-441C-A050-AB648C65AB4D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B3139"/>
                </a:solidFill>
              </a:defRPr>
            </a:pPr>
            <a:r>
              <a:rPr sz="1500" b="1">
                <a:solidFill>
                  <a:srgbClr val="1B3139"/>
                </a:solidFill>
              </a:rPr>
              <a:t>Live-demo principle: generate and review live, but keep a tested notebook ready as the approved final candidate.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C6D4A7-E1DD-40F9-B1D4-D2348B27462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A4023D-C482-4131-ADF1-2B7AE85CBA1A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F624A9-2318-460E-91E3-F497A92B3F73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82D774-D50B-116A-A734-2CD5D7DFB11D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36" name="Picture 35" descr="Databricks Logo and symbol, meaning, history, PNG, brand">
            <a:extLst>
              <a:ext uri="{FF2B5EF4-FFF2-40B4-BE49-F238E27FC236}">
                <a16:creationId xmlns:a16="http://schemas.microsoft.com/office/drawing/2014/main" id="{CD798572-C50C-68BB-A4F8-69656377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5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161DC-34E9-4D7C-A947-83810660D5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A4C294-AEA1-411B-8C46-15407CD1F8F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The notebook is intentionally small and reliable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5A36E1-021C-4C0B-9845-F9D15F2EDAFE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A lightweight data product keeps attention on orchestration, not setup friction.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5C0E0-7CBA-495E-B6D9-B0AE318C531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F5796F-4BBF-4673-8DC2-A3EEB62CCF77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000250" cy="1352550"/>
          </a:xfrm>
          <a:prstGeom prst="roundRect">
            <a:avLst>
              <a:gd name="adj" fmla="val 5634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497A02-74C0-45E6-B9AA-73FC91CD3661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FF3621"/>
                </a:solidFill>
              </a:defRPr>
            </a:pPr>
            <a:r>
              <a:rPr sz="3900" b="1">
                <a:solidFill>
                  <a:srgbClr val="FF3621"/>
                </a:solidFill>
              </a:rPr>
              <a:t>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C42B74-7A2F-4398-993C-E4DC9F781849}"/>
              </a:ext>
            </a:extLst>
          </p:cNvPr>
          <p:cNvSpPr>
            <a:spLocks noGrp="1"/>
          </p:cNvSpPr>
          <p:nvPr/>
        </p:nvSpPr>
        <p:spPr>
          <a:xfrm>
            <a:off x="1085850" y="30956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synthetic events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4D395B-1E79-48CB-B1D1-FAEFF4D47D97}"/>
              </a:ext>
            </a:extLst>
          </p:cNvPr>
          <p:cNvSpPr>
            <a:spLocks noGrp="1"/>
          </p:cNvSpPr>
          <p:nvPr/>
        </p:nvSpPr>
        <p:spPr>
          <a:xfrm>
            <a:off x="3571875" y="2238375"/>
            <a:ext cx="20002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E9006D-6B79-4250-B658-80F6E642161C}"/>
              </a:ext>
            </a:extLst>
          </p:cNvPr>
          <p:cNvSpPr>
            <a:spLocks noGrp="1"/>
          </p:cNvSpPr>
          <p:nvPr/>
        </p:nvSpPr>
        <p:spPr>
          <a:xfrm>
            <a:off x="4067175" y="2428875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0D2FF"/>
                </a:solidFill>
              </a:defRPr>
            </a:pPr>
            <a:r>
              <a:rPr sz="3900" b="1">
                <a:solidFill>
                  <a:srgbClr val="00D2FF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2464B1-5C71-442C-AFC4-D4B3D4DAAA86}"/>
              </a:ext>
            </a:extLst>
          </p:cNvPr>
          <p:cNvSpPr>
            <a:spLocks noGrp="1"/>
          </p:cNvSpPr>
          <p:nvPr/>
        </p:nvSpPr>
        <p:spPr>
          <a:xfrm>
            <a:off x="3800475" y="30956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bronze / silver / gold layers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28CB94-5980-4E6F-8412-BE7E59A8B301}"/>
              </a:ext>
            </a:extLst>
          </p:cNvPr>
          <p:cNvSpPr>
            <a:spLocks noGrp="1"/>
          </p:cNvSpPr>
          <p:nvPr/>
        </p:nvSpPr>
        <p:spPr>
          <a:xfrm>
            <a:off x="6286500" y="2238375"/>
            <a:ext cx="20002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6533A2-BE44-447A-B38A-0C540E79BAF0}"/>
              </a:ext>
            </a:extLst>
          </p:cNvPr>
          <p:cNvSpPr>
            <a:spLocks noGrp="1"/>
          </p:cNvSpPr>
          <p:nvPr/>
        </p:nvSpPr>
        <p:spPr>
          <a:xfrm>
            <a:off x="6781800" y="2428875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0D2FF"/>
                </a:solidFill>
              </a:defRPr>
            </a:pPr>
            <a:r>
              <a:rPr sz="3900" b="1">
                <a:solidFill>
                  <a:srgbClr val="00D2FF"/>
                </a:solidFill>
              </a:rPr>
              <a:t>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63C562-12A4-4F87-873E-B24A6BBCD324}"/>
              </a:ext>
            </a:extLst>
          </p:cNvPr>
          <p:cNvSpPr>
            <a:spLocks noGrp="1"/>
          </p:cNvSpPr>
          <p:nvPr/>
        </p:nvSpPr>
        <p:spPr>
          <a:xfrm>
            <a:off x="6515100" y="30956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simple ML section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EC06817-BDF4-4BD6-9121-95B900EC06D8}"/>
              </a:ext>
            </a:extLst>
          </p:cNvPr>
          <p:cNvSpPr>
            <a:spLocks noGrp="1"/>
          </p:cNvSpPr>
          <p:nvPr/>
        </p:nvSpPr>
        <p:spPr>
          <a:xfrm>
            <a:off x="9001125" y="2238375"/>
            <a:ext cx="20002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AA7524-3845-41FD-A267-67C04114DD45}"/>
              </a:ext>
            </a:extLst>
          </p:cNvPr>
          <p:cNvSpPr>
            <a:spLocks noGrp="1"/>
          </p:cNvSpPr>
          <p:nvPr/>
        </p:nvSpPr>
        <p:spPr>
          <a:xfrm>
            <a:off x="9496425" y="2428875"/>
            <a:ext cx="100012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00D2FF"/>
                </a:solidFill>
              </a:defRPr>
            </a:pPr>
            <a:r>
              <a:rPr sz="3900" b="1">
                <a:solidFill>
                  <a:srgbClr val="00D2FF"/>
                </a:solidFill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24CC0F-B47E-4799-BA20-8214476746DE}"/>
              </a:ext>
            </a:extLst>
          </p:cNvPr>
          <p:cNvSpPr>
            <a:spLocks noGrp="1"/>
          </p:cNvSpPr>
          <p:nvPr/>
        </p:nvSpPr>
        <p:spPr>
          <a:xfrm>
            <a:off x="9229725" y="3095625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1747B"/>
                </a:solidFill>
              </a:defRPr>
            </a:pPr>
            <a:r>
              <a:rPr sz="1125" b="0">
                <a:solidFill>
                  <a:srgbClr val="61747B"/>
                </a:solidFill>
              </a:rPr>
              <a:t>validation checks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F84BEBB-18D5-4AC1-8EE5-DA3B0CA53DD6}"/>
              </a:ext>
            </a:extLst>
          </p:cNvPr>
          <p:cNvSpPr>
            <a:spLocks noGrp="1"/>
          </p:cNvSpPr>
          <p:nvPr/>
        </p:nvSpPr>
        <p:spPr>
          <a:xfrm>
            <a:off x="1428749" y="4333875"/>
            <a:ext cx="4143375" cy="1657350"/>
          </a:xfrm>
          <a:prstGeom prst="roundRect">
            <a:avLst>
              <a:gd name="adj" fmla="val 6061"/>
            </a:avLst>
          </a:prstGeom>
          <a:solidFill>
            <a:srgbClr val="FAFCFD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8070C6-46B6-4474-ACAA-ACD2F7D8F635}"/>
              </a:ext>
            </a:extLst>
          </p:cNvPr>
          <p:cNvSpPr>
            <a:spLocks noGrp="1"/>
          </p:cNvSpPr>
          <p:nvPr/>
        </p:nvSpPr>
        <p:spPr>
          <a:xfrm>
            <a:off x="1657350" y="45053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B3139"/>
                </a:solidFill>
              </a:defRPr>
            </a:pPr>
            <a:r>
              <a:rPr sz="1200" b="1">
                <a:solidFill>
                  <a:srgbClr val="1B3139"/>
                </a:solidFill>
              </a:rPr>
              <a:t>Notebook validation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F38220-3939-4638-AD0C-DEB43D79E3A3}"/>
              </a:ext>
            </a:extLst>
          </p:cNvPr>
          <p:cNvSpPr>
            <a:spLocks noGrp="1"/>
          </p:cNvSpPr>
          <p:nvPr/>
        </p:nvSpPr>
        <p:spPr>
          <a:xfrm>
            <a:off x="1657350" y="4810125"/>
            <a:ext cx="3638550" cy="19050"/>
          </a:xfrm>
          <a:prstGeom prst="rect">
            <a:avLst/>
          </a:prstGeom>
          <a:solidFill>
            <a:srgbClr val="00D2FF"/>
          </a:solidFill>
          <a:ln w="0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CE9913-3819-41BD-ADC3-B76ADD5965CE}"/>
              </a:ext>
            </a:extLst>
          </p:cNvPr>
          <p:cNvSpPr>
            <a:spLocks noGrp="1"/>
          </p:cNvSpPr>
          <p:nvPr/>
        </p:nvSpPr>
        <p:spPr>
          <a:xfrm>
            <a:off x="1657350" y="4981575"/>
            <a:ext cx="3638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>
                <a:solidFill>
                  <a:srgbClr val="243E48"/>
                </a:solidFill>
              </a:rPr>
              <a:t>display(demo_gold_daily_sales)</a:t>
            </a:r>
          </a:p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>
                <a:solidFill>
                  <a:srgbClr val="243E48"/>
                </a:solidFill>
              </a:rPr>
              <a:t>display(demo_validation_results)</a:t>
            </a:r>
          </a:p>
          <a:p>
            <a:pPr algn="l">
              <a:defRPr sz="1275" b="0">
                <a:solidFill>
                  <a:srgbClr val="243E48"/>
                </a:solidFill>
              </a:defRPr>
            </a:pPr>
            <a:r>
              <a:rPr sz="1275" b="0">
                <a:solidFill>
                  <a:srgbClr val="243E48"/>
                </a:solidFill>
              </a:rPr>
              <a:t>assert demo_status == 'passed'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00742B-6B41-4143-859F-B7D307E8CF43}"/>
              </a:ext>
            </a:extLst>
          </p:cNvPr>
          <p:cNvSpPr>
            <a:spLocks noGrp="1"/>
          </p:cNvSpPr>
          <p:nvPr/>
        </p:nvSpPr>
        <p:spPr>
          <a:xfrm>
            <a:off x="6191250" y="4333875"/>
            <a:ext cx="45720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DA8F8E-A3E8-4E8E-B668-CE3DB6219D98}"/>
              </a:ext>
            </a:extLst>
          </p:cNvPr>
          <p:cNvSpPr>
            <a:spLocks noGrp="1"/>
          </p:cNvSpPr>
          <p:nvPr/>
        </p:nvSpPr>
        <p:spPr>
          <a:xfrm>
            <a:off x="6515100" y="45720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What attendees should remember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63F19D-6B0A-4125-9F17-4DF105B20D19}"/>
              </a:ext>
            </a:extLst>
          </p:cNvPr>
          <p:cNvSpPr>
            <a:spLocks noGrp="1"/>
          </p:cNvSpPr>
          <p:nvPr/>
        </p:nvSpPr>
        <p:spPr>
          <a:xfrm>
            <a:off x="6515100" y="5010150"/>
            <a:ext cx="371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>
                <a:solidFill>
                  <a:srgbClr val="243E48"/>
                </a:solidFill>
              </a:rPr>
              <a:t>Polly connects planning, coding, review, execution evidence, and a final build summary.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966242-B4A9-4180-A45F-F81F223CA16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ADDB4B-F4F1-43CD-916A-8E3C00F45861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F05CF2-5CD1-4BA9-BC90-0FCE8C1083C2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322078-17DE-9AF8-0B0A-3D3BF7EC528B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37" name="Picture 36" descr="Databricks Logo and symbol, meaning, history, PNG, brand">
            <a:extLst>
              <a:ext uri="{FF2B5EF4-FFF2-40B4-BE49-F238E27FC236}">
                <a16:creationId xmlns:a16="http://schemas.microsoft.com/office/drawing/2014/main" id="{69C54F11-E5CC-8EC4-566D-C7AA8C3DD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62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2404D6-FA48-40F3-AE9A-3D343101EF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F93B2-157D-4E97-9904-AD1156B4BB6F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 dirty="0">
                <a:solidFill>
                  <a:srgbClr val="1B3139"/>
                </a:solidFill>
              </a:rPr>
              <a:t>The review loop demonstrates enterprise discipline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7620E8-C89F-4774-8842-9FDAEEF41D64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The best moment is controlled disagreement, not code generation alone.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8AC558-EA72-46E0-9F7F-0B3CC60E7AA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7F008A-8B32-4E95-84E1-62ADC90FF195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4572000" cy="150495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5931CA-4C2C-4C3C-9D28-8C38212C15C0}"/>
              </a:ext>
            </a:extLst>
          </p:cNvPr>
          <p:cNvSpPr>
            <a:spLocks noGrp="1"/>
          </p:cNvSpPr>
          <p:nvPr/>
        </p:nvSpPr>
        <p:spPr>
          <a:xfrm>
            <a:off x="1143000" y="25146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B3139"/>
                </a:solidFill>
              </a:defRPr>
            </a:pPr>
            <a:r>
              <a:rPr sz="1800" b="1">
                <a:solidFill>
                  <a:srgbClr val="1B3139"/>
                </a:solidFill>
              </a:rPr>
              <a:t>Implementation proposal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BD011-85A3-42B7-837E-5ED1827C03CE}"/>
              </a:ext>
            </a:extLst>
          </p:cNvPr>
          <p:cNvSpPr>
            <a:spLocks noGrp="1"/>
          </p:cNvSpPr>
          <p:nvPr/>
        </p:nvSpPr>
        <p:spPr>
          <a:xfrm>
            <a:off x="1143000" y="306705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 dirty="0">
                <a:solidFill>
                  <a:srgbClr val="243E48"/>
                </a:solidFill>
              </a:rPr>
              <a:t>Use managed Delta tables for a production-like </a:t>
            </a:r>
            <a:r>
              <a:rPr sz="1350" b="0" dirty="0" err="1">
                <a:solidFill>
                  <a:srgbClr val="243E48"/>
                </a:solidFill>
              </a:rPr>
              <a:t>lakehouse</a:t>
            </a:r>
            <a:r>
              <a:rPr sz="1350" b="0" dirty="0">
                <a:solidFill>
                  <a:srgbClr val="243E48"/>
                </a:solidFill>
              </a:rPr>
              <a:t> pattern.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DC1B0D8-E269-46A2-9FC0-5B389770B7E2}"/>
              </a:ext>
            </a:extLst>
          </p:cNvPr>
          <p:cNvSpPr>
            <a:spLocks noGrp="1"/>
          </p:cNvSpPr>
          <p:nvPr/>
        </p:nvSpPr>
        <p:spPr>
          <a:xfrm>
            <a:off x="6715125" y="2238375"/>
            <a:ext cx="4572000" cy="1504950"/>
          </a:xfrm>
          <a:prstGeom prst="roundRect">
            <a:avLst>
              <a:gd name="adj" fmla="val 5063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90DC6-94AB-4F31-A42D-61E4679610CC}"/>
              </a:ext>
            </a:extLst>
          </p:cNvPr>
          <p:cNvSpPr>
            <a:spLocks noGrp="1"/>
          </p:cNvSpPr>
          <p:nvPr/>
        </p:nvSpPr>
        <p:spPr>
          <a:xfrm>
            <a:off x="7048500" y="25146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3621"/>
                </a:solidFill>
              </a:defRPr>
            </a:pPr>
            <a:r>
              <a:rPr sz="1800" b="1">
                <a:solidFill>
                  <a:srgbClr val="FF3621"/>
                </a:solidFill>
              </a:rPr>
              <a:t>Review recommendation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D4E70C-C5C8-4290-B84A-FB4F54EFF154}"/>
              </a:ext>
            </a:extLst>
          </p:cNvPr>
          <p:cNvSpPr>
            <a:spLocks noGrp="1"/>
          </p:cNvSpPr>
          <p:nvPr/>
        </p:nvSpPr>
        <p:spPr>
          <a:xfrm>
            <a:off x="7048500" y="306705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43E48"/>
                </a:solidFill>
              </a:defRPr>
            </a:pPr>
            <a:r>
              <a:rPr sz="1350" b="0" dirty="0">
                <a:solidFill>
                  <a:srgbClr val="243E48"/>
                </a:solidFill>
              </a:rPr>
              <a:t>Use temporary views for portability in Databricks Free Edition.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43284C-F659-4FA4-A65B-7F9577595BC2}"/>
              </a:ext>
            </a:extLst>
          </p:cNvPr>
          <p:cNvSpPr>
            <a:spLocks noGrp="1"/>
          </p:cNvSpPr>
          <p:nvPr/>
        </p:nvSpPr>
        <p:spPr>
          <a:xfrm>
            <a:off x="1943100" y="4572000"/>
            <a:ext cx="8286750" cy="781050"/>
          </a:xfrm>
          <a:prstGeom prst="roundRect">
            <a:avLst>
              <a:gd name="adj" fmla="val 9756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6D7C0-4011-42FA-BF53-1DBF32924DA2}"/>
              </a:ext>
            </a:extLst>
          </p:cNvPr>
          <p:cNvSpPr>
            <a:spLocks noGrp="1"/>
          </p:cNvSpPr>
          <p:nvPr/>
        </p:nvSpPr>
        <p:spPr>
          <a:xfrm>
            <a:off x="2362200" y="4781550"/>
            <a:ext cx="744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B3139"/>
                </a:solidFill>
              </a:defRPr>
            </a:pPr>
            <a:r>
              <a:rPr sz="1650" b="1">
                <a:solidFill>
                  <a:srgbClr val="1B3139"/>
                </a:solidFill>
              </a:rPr>
              <a:t>Polly resolves for the meetup: temp views live, Delta + Unity Catalog as the production hardening path.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B0A6B8-5A1D-4BF4-BF4A-1C5EDEC5ED5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8B0858-17D2-442F-9334-C0795C35CF1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E8A186-6921-4EA0-8176-51D9CCE23A45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09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F55757-1AD4-5A6D-A216-2F8C55C14F9D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26" name="Picture 25" descr="Databricks Logo and symbol, meaning, history, PNG, brand">
            <a:extLst>
              <a:ext uri="{FF2B5EF4-FFF2-40B4-BE49-F238E27FC236}">
                <a16:creationId xmlns:a16="http://schemas.microsoft.com/office/drawing/2014/main" id="{2863BF2C-2604-B7CE-10CB-7D861F311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36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16ABC-3F50-428B-A780-487452E418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40C82D-5CDC-4E8F-AA22-C71EFFB32C4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790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B3139"/>
                </a:solidFill>
              </a:defRPr>
            </a:pPr>
            <a:r>
              <a:rPr sz="2850" b="1">
                <a:solidFill>
                  <a:srgbClr val="1B3139"/>
                </a:solidFill>
              </a:rPr>
              <a:t>Interactive Q&amp;A &amp; Discussion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8C8B7D-EF48-4F56-B776-5BEA07DBF2F5}"/>
              </a:ext>
            </a:extLst>
          </p:cNvPr>
          <p:cNvSpPr>
            <a:spLocks noGrp="1"/>
          </p:cNvSpPr>
          <p:nvPr/>
        </p:nvSpPr>
        <p:spPr>
          <a:xfrm>
            <a:off x="628650" y="11811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1747B"/>
                </a:solidFill>
              </a:defRPr>
            </a:pPr>
            <a:r>
              <a:rPr sz="1275" b="0">
                <a:solidFill>
                  <a:srgbClr val="61747B"/>
                </a:solidFill>
              </a:rPr>
              <a:t>Let’s adapt the workflow to your Databricks environment.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802BC8-0F14-4CC6-AC0B-5A516A73397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333500" cy="47625"/>
          </a:xfrm>
          <a:prstGeom prst="rect">
            <a:avLst/>
          </a:prstGeom>
          <a:solidFill>
            <a:srgbClr val="FF3621"/>
          </a:solidFill>
          <a:ln w="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34D3DF-7FC5-460B-8696-D241C4558F50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41630C-B4C1-4FD6-B426-01897B2F7928}"/>
              </a:ext>
            </a:extLst>
          </p:cNvPr>
          <p:cNvSpPr>
            <a:spLocks noGrp="1"/>
          </p:cNvSpPr>
          <p:nvPr/>
        </p:nvSpPr>
        <p:spPr>
          <a:xfrm>
            <a:off x="971550" y="23431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D2FF"/>
                </a:solidFill>
              </a:defRPr>
            </a:pPr>
            <a:r>
              <a:rPr sz="1725" b="1">
                <a:solidFill>
                  <a:srgbClr val="00D2FF"/>
                </a:solidFill>
              </a:rPr>
              <a:t>Route 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3211C-DCF3-4F92-BBD3-8DF1D2A9491B}"/>
              </a:ext>
            </a:extLst>
          </p:cNvPr>
          <p:cNvSpPr>
            <a:spLocks noGrp="1"/>
          </p:cNvSpPr>
          <p:nvPr/>
        </p:nvSpPr>
        <p:spPr>
          <a:xfrm>
            <a:off x="2571750" y="23241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3E48"/>
                </a:solidFill>
              </a:defRPr>
            </a:pPr>
            <a:r>
              <a:rPr sz="1200" b="0" dirty="0">
                <a:solidFill>
                  <a:srgbClr val="243E48"/>
                </a:solidFill>
              </a:rPr>
              <a:t>Which agent should own architecture, testing, security, and production promotion?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6F3F6D-8B06-4EED-99C8-B719036C1F07}"/>
              </a:ext>
            </a:extLst>
          </p:cNvPr>
          <p:cNvSpPr>
            <a:spLocks noGrp="1"/>
          </p:cNvSpPr>
          <p:nvPr/>
        </p:nvSpPr>
        <p:spPr>
          <a:xfrm>
            <a:off x="666750" y="3295650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FFF1EF"/>
          </a:solidFill>
          <a:ln w="9525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9C34CC-71D2-4E09-BB76-91C59D0A3455}"/>
              </a:ext>
            </a:extLst>
          </p:cNvPr>
          <p:cNvSpPr>
            <a:spLocks noGrp="1"/>
          </p:cNvSpPr>
          <p:nvPr/>
        </p:nvSpPr>
        <p:spPr>
          <a:xfrm>
            <a:off x="971550" y="34861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FF3621"/>
                </a:solidFill>
              </a:defRPr>
            </a:pPr>
            <a:r>
              <a:rPr sz="1725" b="1">
                <a:solidFill>
                  <a:srgbClr val="FF3621"/>
                </a:solidFill>
              </a:rPr>
              <a:t>Govern 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1D84D9-AE4A-4AFE-9F8A-1777D535152C}"/>
              </a:ext>
            </a:extLst>
          </p:cNvPr>
          <p:cNvSpPr>
            <a:spLocks noGrp="1"/>
          </p:cNvSpPr>
          <p:nvPr/>
        </p:nvSpPr>
        <p:spPr>
          <a:xfrm>
            <a:off x="2571750" y="34671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3E48"/>
                </a:solidFill>
              </a:defRPr>
            </a:pPr>
            <a:r>
              <a:rPr sz="1200" b="0">
                <a:solidFill>
                  <a:srgbClr val="243E48"/>
                </a:solidFill>
              </a:rPr>
              <a:t>Where should approvals, policy checks, and access boundaries enter the workflow?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DF77C9-9F0F-463F-A097-245AFB5A826E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2189C6-86AD-4CC5-AC0C-14DC7C0AA8F4}"/>
              </a:ext>
            </a:extLst>
          </p:cNvPr>
          <p:cNvSpPr>
            <a:spLocks noGrp="1"/>
          </p:cNvSpPr>
          <p:nvPr/>
        </p:nvSpPr>
        <p:spPr>
          <a:xfrm>
            <a:off x="971550" y="4629150"/>
            <a:ext cx="1381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0D2FF"/>
                </a:solidFill>
              </a:defRPr>
            </a:pPr>
            <a:r>
              <a:rPr sz="1725" b="1">
                <a:solidFill>
                  <a:srgbClr val="00D2FF"/>
                </a:solidFill>
              </a:rPr>
              <a:t>Scale 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99F2C8-4C9F-4717-8D51-B3671B9497F6}"/>
              </a:ext>
            </a:extLst>
          </p:cNvPr>
          <p:cNvSpPr>
            <a:spLocks noGrp="1"/>
          </p:cNvSpPr>
          <p:nvPr/>
        </p:nvSpPr>
        <p:spPr>
          <a:xfrm>
            <a:off x="2571750" y="46101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43E48"/>
                </a:solidFill>
              </a:defRPr>
            </a:pPr>
            <a:r>
              <a:rPr sz="1200" b="0" dirty="0">
                <a:solidFill>
                  <a:srgbClr val="243E48"/>
                </a:solidFill>
              </a:rPr>
              <a:t>How would this pattern change for </a:t>
            </a:r>
            <a:r>
              <a:rPr sz="1200" b="0" dirty="0" err="1">
                <a:solidFill>
                  <a:srgbClr val="243E48"/>
                </a:solidFill>
              </a:rPr>
              <a:t>Lakeflow</a:t>
            </a:r>
            <a:r>
              <a:rPr sz="1200" b="0" dirty="0">
                <a:solidFill>
                  <a:srgbClr val="243E48"/>
                </a:solidFill>
              </a:rPr>
              <a:t>, Unity Catalog, </a:t>
            </a:r>
            <a:r>
              <a:rPr sz="1200" b="0" dirty="0" err="1">
                <a:solidFill>
                  <a:srgbClr val="243E48"/>
                </a:solidFill>
              </a:rPr>
              <a:t>MLflow</a:t>
            </a:r>
            <a:r>
              <a:rPr sz="1200" b="0" dirty="0">
                <a:solidFill>
                  <a:srgbClr val="243E48"/>
                </a:solidFill>
              </a:rPr>
              <a:t>, or Asset Bundles?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rcRect l="6227" r="6227"/>
          <a:stretch>
            <a:fillRect/>
          </a:stretch>
        </p:blipFill>
        <p:spPr>
          <a:xfrm>
            <a:off x="6076950" y="2076450"/>
            <a:ext cx="5334000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5C9BE7-2FC5-4A4C-8F9C-CE18087E61B0}"/>
              </a:ext>
            </a:extLst>
          </p:cNvPr>
          <p:cNvSpPr>
            <a:spLocks noGrp="1"/>
          </p:cNvSpPr>
          <p:nvPr/>
        </p:nvSpPr>
        <p:spPr>
          <a:xfrm>
            <a:off x="7734300" y="5734050"/>
            <a:ext cx="2095500" cy="285750"/>
          </a:xfrm>
          <a:prstGeom prst="roundRect">
            <a:avLst>
              <a:gd name="adj" fmla="val 26667"/>
            </a:avLst>
          </a:prstGeom>
          <a:solidFill>
            <a:srgbClr val="E9FAFF"/>
          </a:solidFill>
          <a:ln w="9525">
            <a:solidFill>
              <a:srgbClr val="00D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806C11-4D60-4AF6-BC6E-6C5B33F774E7}"/>
              </a:ext>
            </a:extLst>
          </p:cNvPr>
          <p:cNvSpPr>
            <a:spLocks noGrp="1"/>
          </p:cNvSpPr>
          <p:nvPr/>
        </p:nvSpPr>
        <p:spPr>
          <a:xfrm>
            <a:off x="7848600" y="5781675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00D2FF"/>
                </a:solidFill>
              </a:defRPr>
            </a:pPr>
            <a:r>
              <a:rPr sz="900" b="1">
                <a:solidFill>
                  <a:srgbClr val="00D2FF"/>
                </a:solidFill>
              </a:rPr>
              <a:t>OPEN DISCUSSION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52BDEB-9990-41C1-8619-3A33220D64E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952500" cy="19050"/>
          </a:xfrm>
          <a:prstGeom prst="rect">
            <a:avLst/>
          </a:prstGeom>
          <a:solidFill>
            <a:srgbClr val="D7E2E6"/>
          </a:solidFill>
          <a:ln w="0">
            <a:solidFill>
              <a:srgbClr val="D7E2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EC793-2627-4EA6-92C6-E8521B8F6612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3619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1747B"/>
                </a:solidFill>
              </a:defRPr>
            </a:pPr>
            <a:r>
              <a:rPr sz="900" b="0">
                <a:solidFill>
                  <a:srgbClr val="61747B"/>
                </a:solidFill>
              </a:rPr>
              <a:t>Polly Multi-Agent Databricks Demo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742FAA-7530-4CBB-9233-38C3ED25AF51}"/>
              </a:ext>
            </a:extLst>
          </p:cNvPr>
          <p:cNvSpPr>
            <a:spLocks noGrp="1"/>
          </p:cNvSpPr>
          <p:nvPr/>
        </p:nvSpPr>
        <p:spPr>
          <a:xfrm>
            <a:off x="11096625" y="630555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1747B"/>
                </a:solidFill>
              </a:defRPr>
            </a:pPr>
            <a:r>
              <a:rPr sz="975" b="0">
                <a:solidFill>
                  <a:srgbClr val="61747B"/>
                </a:solidFill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EA612A-6ED1-3285-D664-C50635C37874}"/>
              </a:ext>
            </a:extLst>
          </p:cNvPr>
          <p:cNvSpPr>
            <a:spLocks noGrp="1"/>
          </p:cNvSpPr>
          <p:nvPr/>
        </p:nvSpPr>
        <p:spPr>
          <a:xfrm>
            <a:off x="9248775" y="323849"/>
            <a:ext cx="2781300" cy="3619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B3139"/>
                </a:solidFill>
              </a:defRPr>
            </a:pPr>
            <a:r>
              <a:rPr sz="1650" b="1" dirty="0">
                <a:solidFill>
                  <a:srgbClr val="1B3139"/>
                </a:solidFill>
              </a:rPr>
              <a:t>Databricks</a:t>
            </a:r>
            <a:r>
              <a:rPr lang="en-US" sz="1650" b="1" dirty="0">
                <a:solidFill>
                  <a:srgbClr val="1B3139"/>
                </a:solidFill>
              </a:rPr>
              <a:t> Technical Meetup</a:t>
            </a:r>
          </a:p>
        </p:txBody>
      </p:sp>
      <p:pic>
        <p:nvPicPr>
          <p:cNvPr id="29" name="Picture 28" descr="Databricks Logo and symbol, meaning, history, PNG, brand">
            <a:extLst>
              <a:ext uri="{FF2B5EF4-FFF2-40B4-BE49-F238E27FC236}">
                <a16:creationId xmlns:a16="http://schemas.microsoft.com/office/drawing/2014/main" id="{B101D0FC-B09A-D59B-B5BE-EF0745673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4" y="339799"/>
            <a:ext cx="580644" cy="33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8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2304</Words>
  <Application>Microsoft Office PowerPoint</Application>
  <PresentationFormat>Widescreen</PresentationFormat>
  <Paragraphs>269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Nitesh M</dc:creator>
  <cp:lastModifiedBy>Nitesh M</cp:lastModifiedBy>
  <cp:revision>1</cp:revision>
  <dcterms:created xsi:type="dcterms:W3CDTF">2026-08-17T21:18:56Z</dcterms:created>
  <dcterms:modified xsi:type="dcterms:W3CDTF">2026-08-17T21:19:42Z</dcterms:modified>
</cp:coreProperties>
</file>